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58" r:id="rId5"/>
    <p:sldId id="275" r:id="rId6"/>
    <p:sldId id="260" r:id="rId7"/>
    <p:sldId id="268" r:id="rId8"/>
    <p:sldId id="276" r:id="rId9"/>
    <p:sldId id="270" r:id="rId10"/>
    <p:sldId id="271" r:id="rId11"/>
    <p:sldId id="272" r:id="rId12"/>
    <p:sldId id="273" r:id="rId13"/>
    <p:sldId id="267" r:id="rId14"/>
    <p:sldId id="266" r:id="rId15"/>
    <p:sldId id="277" r:id="rId16"/>
    <p:sldId id="264" r:id="rId17"/>
    <p:sldId id="265" r:id="rId18"/>
  </p:sldIdLst>
  <p:sldSz cx="18288000" cy="10287000"/>
  <p:notesSz cx="6858000" cy="9144000"/>
  <p:embeddedFontLst>
    <p:embeddedFont>
      <p:font typeface="Arial Black" panose="020B0A04020102020204" pitchFamily="34" charset="0"/>
      <p:bold r:id="rId19"/>
    </p:embeddedFont>
    <p:embeddedFont>
      <p:font typeface="Lucida Sans" panose="020B0602030504020204" pitchFamily="34" charset="0"/>
      <p:regular r:id="rId20"/>
      <p:bold r:id="rId21"/>
      <p:italic r:id="rId22"/>
      <p:boldItalic r:id="rId23"/>
    </p:embeddedFont>
    <p:embeddedFont>
      <p:font typeface="Poppins" panose="00000500000000000000" pitchFamily="2"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EE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2" autoAdjust="0"/>
  </p:normalViewPr>
  <p:slideViewPr>
    <p:cSldViewPr>
      <p:cViewPr varScale="1">
        <p:scale>
          <a:sx n="55" d="100"/>
          <a:sy n="55" d="100"/>
        </p:scale>
        <p:origin x="68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accent1">
                <a:lumMod val="5000"/>
                <a:lumOff val="95000"/>
                <a:alpha val="22000"/>
              </a:schemeClr>
            </a:gs>
            <a:gs pos="100000">
              <a:srgbClr val="FF0000">
                <a:alpha val="54000"/>
                <a:lumMod val="84000"/>
                <a:lumOff val="16000"/>
              </a:srgb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png"/><Relationship Id="rId5" Type="http://schemas.openxmlformats.org/officeDocument/2006/relationships/image" Target="../media/image10.svg"/><Relationship Id="rId10"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1.png"/><Relationship Id="rId5" Type="http://schemas.openxmlformats.org/officeDocument/2006/relationships/image" Target="../media/image28.svg"/><Relationship Id="rId10" Type="http://schemas.openxmlformats.org/officeDocument/2006/relationships/image" Target="../media/image2.png"/><Relationship Id="rId4" Type="http://schemas.openxmlformats.org/officeDocument/2006/relationships/image" Target="../media/image27.png"/><Relationship Id="rId9" Type="http://schemas.openxmlformats.org/officeDocument/2006/relationships/image" Target="../media/image32.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2"/>
          <p:cNvSpPr txBox="1"/>
          <p:nvPr/>
        </p:nvSpPr>
        <p:spPr>
          <a:xfrm>
            <a:off x="3632948" y="1604114"/>
            <a:ext cx="11328092" cy="2539862"/>
          </a:xfrm>
          <a:prstGeom prst="rect">
            <a:avLst/>
          </a:prstGeom>
        </p:spPr>
        <p:txBody>
          <a:bodyPr wrap="square" lIns="0" tIns="0" rIns="0" bIns="0" rtlCol="0" anchor="t">
            <a:spAutoFit/>
          </a:bodyPr>
          <a:lstStyle/>
          <a:p>
            <a:pPr algn="ctr">
              <a:lnSpc>
                <a:spcPts val="22457"/>
              </a:lnSpc>
            </a:pPr>
            <a:r>
              <a:rPr lang="en-US" sz="11100" dirty="0">
                <a:solidFill>
                  <a:srgbClr val="000000"/>
                </a:solidFill>
                <a:latin typeface="Telegraf Bold Bold"/>
              </a:rPr>
              <a:t>Pitch Deck</a:t>
            </a:r>
          </a:p>
        </p:txBody>
      </p:sp>
      <p:sp>
        <p:nvSpPr>
          <p:cNvPr id="13" name="TextBox 13"/>
          <p:cNvSpPr txBox="1"/>
          <p:nvPr/>
        </p:nvSpPr>
        <p:spPr>
          <a:xfrm>
            <a:off x="1095374" y="3935878"/>
            <a:ext cx="16230600" cy="750570"/>
          </a:xfrm>
          <a:prstGeom prst="rect">
            <a:avLst/>
          </a:prstGeom>
        </p:spPr>
        <p:txBody>
          <a:bodyPr lIns="0" tIns="0" rIns="0" bIns="0" rtlCol="0" anchor="t">
            <a:spAutoFit/>
          </a:bodyPr>
          <a:lstStyle/>
          <a:p>
            <a:pPr algn="ctr">
              <a:lnSpc>
                <a:spcPts val="5880"/>
              </a:lnSpc>
            </a:pPr>
            <a:r>
              <a:rPr lang="en-US" sz="4200" spc="1058" dirty="0">
                <a:solidFill>
                  <a:srgbClr val="000000"/>
                </a:solidFill>
                <a:latin typeface="Poppins"/>
              </a:rPr>
              <a:t>PRESENTATION</a:t>
            </a:r>
          </a:p>
        </p:txBody>
      </p:sp>
      <p:sp>
        <p:nvSpPr>
          <p:cNvPr id="17" name="TextBox 12">
            <a:extLst>
              <a:ext uri="{FF2B5EF4-FFF2-40B4-BE49-F238E27FC236}">
                <a16:creationId xmlns:a16="http://schemas.microsoft.com/office/drawing/2014/main" id="{0BC9AEEC-AF4C-9961-99B2-A2F752CEA014}"/>
              </a:ext>
            </a:extLst>
          </p:cNvPr>
          <p:cNvSpPr txBox="1"/>
          <p:nvPr/>
        </p:nvSpPr>
        <p:spPr>
          <a:xfrm>
            <a:off x="1828800" y="3981984"/>
            <a:ext cx="15497174" cy="2299476"/>
          </a:xfrm>
          <a:prstGeom prst="rect">
            <a:avLst/>
          </a:prstGeom>
        </p:spPr>
        <p:txBody>
          <a:bodyPr wrap="square" lIns="0" tIns="0" rIns="0" bIns="0" rtlCol="0" anchor="ctr">
            <a:spAutoFit/>
          </a:bodyPr>
          <a:lstStyle/>
          <a:p>
            <a:pPr algn="ctr">
              <a:lnSpc>
                <a:spcPts val="22457"/>
              </a:lnSpc>
            </a:pPr>
            <a:r>
              <a:rPr lang="en-US" sz="4000" dirty="0" err="1">
                <a:latin typeface="+mj-lt"/>
                <a:cs typeface="Times New Roman" panose="02020603050405020304" pitchFamily="18" charset="0"/>
              </a:rPr>
              <a:t>Prihub</a:t>
            </a:r>
            <a:r>
              <a:rPr lang="en-US" sz="4000" dirty="0">
                <a:latin typeface="+mj-lt"/>
                <a:cs typeface="Times New Roman" panose="02020603050405020304" pitchFamily="18" charset="0"/>
              </a:rPr>
              <a:t>: A Full Stack Platform for Individuals with Cognitive Disabilities</a:t>
            </a:r>
            <a:endParaRPr lang="en-US" sz="4000" dirty="0">
              <a:solidFill>
                <a:srgbClr val="000000"/>
              </a:solidFill>
              <a:latin typeface="+mj-lt"/>
              <a:cs typeface="Times New Roman" panose="02020603050405020304" pitchFamily="18" charset="0"/>
            </a:endParaRPr>
          </a:p>
        </p:txBody>
      </p:sp>
      <p:sp>
        <p:nvSpPr>
          <p:cNvPr id="34" name="TextBox 33">
            <a:extLst>
              <a:ext uri="{FF2B5EF4-FFF2-40B4-BE49-F238E27FC236}">
                <a16:creationId xmlns:a16="http://schemas.microsoft.com/office/drawing/2014/main" id="{710144DB-86B4-10FF-0EF5-9BDB8ED4A0F9}"/>
              </a:ext>
            </a:extLst>
          </p:cNvPr>
          <p:cNvSpPr txBox="1"/>
          <p:nvPr/>
        </p:nvSpPr>
        <p:spPr>
          <a:xfrm>
            <a:off x="457200" y="7886700"/>
            <a:ext cx="7543800" cy="523220"/>
          </a:xfrm>
          <a:prstGeom prst="rect">
            <a:avLst/>
          </a:prstGeom>
          <a:solidFill>
            <a:srgbClr val="FF0000"/>
          </a:solidFill>
        </p:spPr>
        <p:txBody>
          <a:bodyPr wrap="square" rtlCol="0">
            <a:spAutoFit/>
          </a:bodyPr>
          <a:lstStyle/>
          <a:p>
            <a:r>
              <a:rPr lang="en-IN" sz="2800" dirty="0">
                <a:solidFill>
                  <a:schemeClr val="bg1"/>
                </a:solidFill>
              </a:rPr>
              <a:t>PELHEIBA KHANGEBAM – 22EARCS121</a:t>
            </a:r>
            <a:endParaRPr lang="en-IN" dirty="0">
              <a:solidFill>
                <a:schemeClr val="bg1"/>
              </a:solidFill>
            </a:endParaRPr>
          </a:p>
        </p:txBody>
      </p:sp>
      <p:sp>
        <p:nvSpPr>
          <p:cNvPr id="35" name="TextBox 34">
            <a:extLst>
              <a:ext uri="{FF2B5EF4-FFF2-40B4-BE49-F238E27FC236}">
                <a16:creationId xmlns:a16="http://schemas.microsoft.com/office/drawing/2014/main" id="{9D33645A-26E3-9EA7-BBF2-EF2931180128}"/>
              </a:ext>
            </a:extLst>
          </p:cNvPr>
          <p:cNvSpPr txBox="1"/>
          <p:nvPr/>
        </p:nvSpPr>
        <p:spPr>
          <a:xfrm>
            <a:off x="10360959" y="8148310"/>
            <a:ext cx="7543800" cy="954107"/>
          </a:xfrm>
          <a:prstGeom prst="rect">
            <a:avLst/>
          </a:prstGeom>
          <a:solidFill>
            <a:srgbClr val="00B0F0"/>
          </a:solidFill>
        </p:spPr>
        <p:txBody>
          <a:bodyPr wrap="square" rtlCol="0">
            <a:spAutoFit/>
          </a:bodyPr>
          <a:lstStyle/>
          <a:p>
            <a:pPr algn="ctr"/>
            <a:r>
              <a:rPr lang="en-IN" sz="2800" b="1" dirty="0">
                <a:solidFill>
                  <a:schemeClr val="bg1"/>
                </a:solidFill>
              </a:rPr>
              <a:t>Name of Mentor: 1. Dr. Vishal Shrivastava </a:t>
            </a:r>
          </a:p>
          <a:p>
            <a:pPr algn="ctr"/>
            <a:r>
              <a:rPr lang="en-IN" sz="2800" b="1" dirty="0">
                <a:solidFill>
                  <a:schemeClr val="bg1"/>
                </a:solidFill>
              </a:rPr>
              <a:t>                    2. Er. Amit Tiwari </a:t>
            </a:r>
            <a:endParaRPr lang="en-IN" b="1" dirty="0">
              <a:solidFill>
                <a:schemeClr val="bg1"/>
              </a:solidFill>
            </a:endParaRPr>
          </a:p>
        </p:txBody>
      </p:sp>
      <p:sp>
        <p:nvSpPr>
          <p:cNvPr id="36" name="TextBox 35">
            <a:extLst>
              <a:ext uri="{FF2B5EF4-FFF2-40B4-BE49-F238E27FC236}">
                <a16:creationId xmlns:a16="http://schemas.microsoft.com/office/drawing/2014/main" id="{D7EB9E2E-760D-3AE6-52EA-64851A041ACD}"/>
              </a:ext>
            </a:extLst>
          </p:cNvPr>
          <p:cNvSpPr txBox="1"/>
          <p:nvPr/>
        </p:nvSpPr>
        <p:spPr>
          <a:xfrm>
            <a:off x="457200" y="7144838"/>
            <a:ext cx="7543800" cy="523220"/>
          </a:xfrm>
          <a:prstGeom prst="rect">
            <a:avLst/>
          </a:prstGeom>
          <a:solidFill>
            <a:srgbClr val="FF0000"/>
          </a:solidFill>
        </p:spPr>
        <p:txBody>
          <a:bodyPr wrap="square" rtlCol="0">
            <a:spAutoFit/>
          </a:bodyPr>
          <a:lstStyle/>
          <a:p>
            <a:r>
              <a:rPr lang="en-IN" sz="2800" dirty="0">
                <a:solidFill>
                  <a:schemeClr val="bg1"/>
                </a:solidFill>
              </a:rPr>
              <a:t>KETAN CHOWDHURY –  22EARCS082  </a:t>
            </a:r>
            <a:endParaRPr lang="en-IN" dirty="0">
              <a:solidFill>
                <a:schemeClr val="bg1"/>
              </a:solidFill>
            </a:endParaRPr>
          </a:p>
        </p:txBody>
      </p:sp>
      <p:sp>
        <p:nvSpPr>
          <p:cNvPr id="37" name="TextBox 36">
            <a:extLst>
              <a:ext uri="{FF2B5EF4-FFF2-40B4-BE49-F238E27FC236}">
                <a16:creationId xmlns:a16="http://schemas.microsoft.com/office/drawing/2014/main" id="{D560416E-419E-763D-0538-46FD2A734A7A}"/>
              </a:ext>
            </a:extLst>
          </p:cNvPr>
          <p:cNvSpPr txBox="1"/>
          <p:nvPr/>
        </p:nvSpPr>
        <p:spPr>
          <a:xfrm>
            <a:off x="457200" y="8665680"/>
            <a:ext cx="7543800" cy="523220"/>
          </a:xfrm>
          <a:prstGeom prst="rect">
            <a:avLst/>
          </a:prstGeom>
          <a:solidFill>
            <a:srgbClr val="FF0000"/>
          </a:solidFill>
        </p:spPr>
        <p:txBody>
          <a:bodyPr wrap="square" rtlCol="0">
            <a:spAutoFit/>
          </a:bodyPr>
          <a:lstStyle/>
          <a:p>
            <a:r>
              <a:rPr lang="en-IN" sz="2800" dirty="0">
                <a:solidFill>
                  <a:schemeClr val="bg1"/>
                </a:solidFill>
              </a:rPr>
              <a:t>PRANJAL KHANDELWAL – 22EARCS125</a:t>
            </a:r>
          </a:p>
        </p:txBody>
      </p:sp>
      <p:sp>
        <p:nvSpPr>
          <p:cNvPr id="38" name="TextBox 37">
            <a:extLst>
              <a:ext uri="{FF2B5EF4-FFF2-40B4-BE49-F238E27FC236}">
                <a16:creationId xmlns:a16="http://schemas.microsoft.com/office/drawing/2014/main" id="{16C417FF-22E7-BE3E-1FD7-7E6D344DC218}"/>
              </a:ext>
            </a:extLst>
          </p:cNvPr>
          <p:cNvSpPr txBox="1"/>
          <p:nvPr/>
        </p:nvSpPr>
        <p:spPr>
          <a:xfrm>
            <a:off x="457200" y="9444660"/>
            <a:ext cx="7543800" cy="523220"/>
          </a:xfrm>
          <a:prstGeom prst="rect">
            <a:avLst/>
          </a:prstGeom>
          <a:solidFill>
            <a:srgbClr val="FF0000"/>
          </a:solidFill>
        </p:spPr>
        <p:txBody>
          <a:bodyPr wrap="square" rtlCol="0">
            <a:spAutoFit/>
          </a:bodyPr>
          <a:lstStyle/>
          <a:p>
            <a:r>
              <a:rPr lang="en-IN" sz="2800" dirty="0">
                <a:solidFill>
                  <a:schemeClr val="bg1"/>
                </a:solidFill>
              </a:rPr>
              <a:t>VISHAKHA TOMAR – 22EARCS185</a:t>
            </a:r>
            <a:endParaRPr lang="en-IN" dirty="0">
              <a:solidFill>
                <a:schemeClr val="bg1"/>
              </a:solidFill>
            </a:endParaRPr>
          </a:p>
        </p:txBody>
      </p:sp>
      <p:pic>
        <p:nvPicPr>
          <p:cNvPr id="3" name="Picture 2">
            <a:extLst>
              <a:ext uri="{FF2B5EF4-FFF2-40B4-BE49-F238E27FC236}">
                <a16:creationId xmlns:a16="http://schemas.microsoft.com/office/drawing/2014/main" id="{E441B8DF-5005-E38A-2198-705991EB616D}"/>
              </a:ext>
            </a:extLst>
          </p:cNvPr>
          <p:cNvPicPr>
            <a:picLocks noChangeAspect="1"/>
          </p:cNvPicPr>
          <p:nvPr/>
        </p:nvPicPr>
        <p:blipFill>
          <a:blip r:embed="rId2" cstate="print"/>
          <a:stretch>
            <a:fillRect/>
          </a:stretch>
        </p:blipFill>
        <p:spPr>
          <a:xfrm>
            <a:off x="1" y="289561"/>
            <a:ext cx="3352799" cy="886633"/>
          </a:xfrm>
          <a:prstGeom prst="rect">
            <a:avLst/>
          </a:prstGeom>
        </p:spPr>
      </p:pic>
      <p:pic>
        <p:nvPicPr>
          <p:cNvPr id="14" name="Picture 13">
            <a:extLst>
              <a:ext uri="{FF2B5EF4-FFF2-40B4-BE49-F238E27FC236}">
                <a16:creationId xmlns:a16="http://schemas.microsoft.com/office/drawing/2014/main" id="{FE04FD0E-5B6F-9E95-7BE5-A2E28EC145EA}"/>
              </a:ext>
            </a:extLst>
          </p:cNvPr>
          <p:cNvPicPr>
            <a:picLocks noChangeAspect="1"/>
          </p:cNvPicPr>
          <p:nvPr/>
        </p:nvPicPr>
        <p:blipFill>
          <a:blip r:embed="rId3" cstate="print"/>
          <a:stretch>
            <a:fillRect/>
          </a:stretch>
        </p:blipFill>
        <p:spPr>
          <a:xfrm>
            <a:off x="14572328" y="0"/>
            <a:ext cx="3715672" cy="13495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533401" y="2661321"/>
            <a:ext cx="4305028" cy="5864024"/>
            <a:chOff x="0" y="0"/>
            <a:chExt cx="1334464" cy="1679886"/>
          </a:xfrm>
        </p:grpSpPr>
        <p:sp>
          <p:nvSpPr>
            <p:cNvPr id="3" name="Freeform 3"/>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5156473" y="2724785"/>
            <a:ext cx="4028744" cy="5864024"/>
            <a:chOff x="0" y="0"/>
            <a:chExt cx="1334464" cy="1679886"/>
          </a:xfrm>
        </p:grpSpPr>
        <p:sp>
          <p:nvSpPr>
            <p:cNvPr id="6" name="Freeform 6"/>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3831268" y="2766675"/>
            <a:ext cx="4037125" cy="5858141"/>
            <a:chOff x="0" y="0"/>
            <a:chExt cx="1334464" cy="1679886"/>
          </a:xfrm>
        </p:grpSpPr>
        <p:sp>
          <p:nvSpPr>
            <p:cNvPr id="9" name="Freeform 9"/>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1755511" y="2704599"/>
            <a:ext cx="1887522" cy="1882744"/>
            <a:chOff x="0" y="0"/>
            <a:chExt cx="406400" cy="405371"/>
          </a:xfrm>
        </p:grpSpPr>
        <p:sp>
          <p:nvSpPr>
            <p:cNvPr id="12" name="Freeform 12"/>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6267682" y="2755958"/>
            <a:ext cx="1887522" cy="1882744"/>
            <a:chOff x="0" y="0"/>
            <a:chExt cx="406400" cy="405371"/>
          </a:xfrm>
        </p:grpSpPr>
        <p:sp>
          <p:nvSpPr>
            <p:cNvPr id="15" name="Freeform 15"/>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9" name="TextBox 19"/>
          <p:cNvSpPr txBox="1"/>
          <p:nvPr/>
        </p:nvSpPr>
        <p:spPr>
          <a:xfrm>
            <a:off x="10744581" y="644900"/>
            <a:ext cx="3775044" cy="3952002"/>
          </a:xfrm>
          <a:prstGeom prst="rect">
            <a:avLst/>
          </a:prstGeom>
        </p:spPr>
        <p:txBody>
          <a:bodyPr lIns="50800" tIns="50800" rIns="50800" bIns="50800" rtlCol="0" anchor="ctr"/>
          <a:lstStyle/>
          <a:p>
            <a:pPr algn="ctr">
              <a:lnSpc>
                <a:spcPts val="3360"/>
              </a:lnSpc>
            </a:pPr>
            <a:endParaRPr/>
          </a:p>
        </p:txBody>
      </p:sp>
      <p:sp>
        <p:nvSpPr>
          <p:cNvPr id="20" name="TextBox 20"/>
          <p:cNvSpPr txBox="1"/>
          <p:nvPr/>
        </p:nvSpPr>
        <p:spPr>
          <a:xfrm>
            <a:off x="-609600" y="5105400"/>
            <a:ext cx="6399975"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1</a:t>
            </a:r>
          </a:p>
        </p:txBody>
      </p:sp>
      <p:sp>
        <p:nvSpPr>
          <p:cNvPr id="21" name="TextBox 21"/>
          <p:cNvSpPr txBox="1"/>
          <p:nvPr/>
        </p:nvSpPr>
        <p:spPr>
          <a:xfrm>
            <a:off x="762000" y="6017027"/>
            <a:ext cx="3743856" cy="1748492"/>
          </a:xfrm>
          <a:prstGeom prst="rect">
            <a:avLst/>
          </a:prstGeom>
        </p:spPr>
        <p:txBody>
          <a:bodyPr wrap="square" lIns="0" tIns="0" rIns="0" bIns="0" rtlCol="0" anchor="t">
            <a:spAutoFit/>
          </a:bodyPr>
          <a:lstStyle/>
          <a:p>
            <a:pPr lvl="0" algn="ctr">
              <a:lnSpc>
                <a:spcPts val="3359"/>
              </a:lnSpc>
            </a:pPr>
            <a:r>
              <a:rPr lang="en-US" sz="3200" dirty="0"/>
              <a:t>Individuals with cognitive disabilities face barriers in digital access</a:t>
            </a:r>
            <a:endParaRPr lang="en-US" sz="3200" u="none" dirty="0">
              <a:solidFill>
                <a:srgbClr val="1A1A1A"/>
              </a:solidFill>
              <a:latin typeface="Poppins"/>
            </a:endParaRPr>
          </a:p>
        </p:txBody>
      </p:sp>
      <p:sp>
        <p:nvSpPr>
          <p:cNvPr id="22" name="TextBox 22"/>
          <p:cNvSpPr txBox="1"/>
          <p:nvPr/>
        </p:nvSpPr>
        <p:spPr>
          <a:xfrm>
            <a:off x="4668964" y="5105400"/>
            <a:ext cx="5047708"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2</a:t>
            </a:r>
          </a:p>
        </p:txBody>
      </p:sp>
      <p:sp>
        <p:nvSpPr>
          <p:cNvPr id="23" name="TextBox 23"/>
          <p:cNvSpPr txBox="1"/>
          <p:nvPr/>
        </p:nvSpPr>
        <p:spPr>
          <a:xfrm>
            <a:off x="5256838" y="5894766"/>
            <a:ext cx="3710888" cy="1748492"/>
          </a:xfrm>
          <a:prstGeom prst="rect">
            <a:avLst/>
          </a:prstGeom>
        </p:spPr>
        <p:txBody>
          <a:bodyPr wrap="square" lIns="0" tIns="0" rIns="0" bIns="0" rtlCol="0" anchor="t">
            <a:spAutoFit/>
          </a:bodyPr>
          <a:lstStyle/>
          <a:p>
            <a:pPr lvl="0" algn="ctr">
              <a:lnSpc>
                <a:spcPts val="3359"/>
              </a:lnSpc>
            </a:pPr>
            <a:r>
              <a:rPr lang="en-US" sz="3200" dirty="0"/>
              <a:t>Complex interfaces, unclear language, and inconsistent layouts </a:t>
            </a:r>
          </a:p>
          <a:p>
            <a:pPr lvl="0" algn="ctr">
              <a:lnSpc>
                <a:spcPts val="3359"/>
              </a:lnSpc>
            </a:pPr>
            <a:r>
              <a:rPr lang="en-US" sz="3200" dirty="0"/>
              <a:t>are major issues</a:t>
            </a:r>
            <a:endParaRPr lang="en-US" sz="3200" dirty="0">
              <a:solidFill>
                <a:srgbClr val="1A1A1A"/>
              </a:solidFill>
              <a:latin typeface="Poppins"/>
            </a:endParaRPr>
          </a:p>
        </p:txBody>
      </p:sp>
      <p:sp>
        <p:nvSpPr>
          <p:cNvPr id="24" name="TextBox 24"/>
          <p:cNvSpPr txBox="1"/>
          <p:nvPr/>
        </p:nvSpPr>
        <p:spPr>
          <a:xfrm>
            <a:off x="14362723" y="5061474"/>
            <a:ext cx="3087078"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4</a:t>
            </a:r>
          </a:p>
        </p:txBody>
      </p:sp>
      <p:sp>
        <p:nvSpPr>
          <p:cNvPr id="26" name="TextBox 26"/>
          <p:cNvSpPr txBox="1"/>
          <p:nvPr/>
        </p:nvSpPr>
        <p:spPr>
          <a:xfrm>
            <a:off x="1929033" y="3226494"/>
            <a:ext cx="1543050" cy="914400"/>
          </a:xfrm>
          <a:prstGeom prst="rect">
            <a:avLst/>
          </a:prstGeom>
        </p:spPr>
        <p:txBody>
          <a:bodyPr lIns="0" tIns="0" rIns="0" bIns="0" rtlCol="0" anchor="t">
            <a:spAutoFit/>
          </a:bodyPr>
          <a:lstStyle/>
          <a:p>
            <a:pPr marL="0" lvl="0" indent="0" algn="ctr">
              <a:lnSpc>
                <a:spcPts val="6720"/>
              </a:lnSpc>
            </a:pPr>
            <a:r>
              <a:rPr lang="en-US" sz="5600" dirty="0">
                <a:solidFill>
                  <a:srgbClr val="F5F5F5"/>
                </a:solidFill>
                <a:latin typeface="Telegraf Bold Bold"/>
              </a:rPr>
              <a:t>01</a:t>
            </a:r>
          </a:p>
        </p:txBody>
      </p:sp>
      <p:sp>
        <p:nvSpPr>
          <p:cNvPr id="27" name="TextBox 27"/>
          <p:cNvSpPr txBox="1"/>
          <p:nvPr/>
        </p:nvSpPr>
        <p:spPr>
          <a:xfrm>
            <a:off x="5790374" y="3226494"/>
            <a:ext cx="2959070" cy="859210"/>
          </a:xfrm>
          <a:prstGeom prst="rect">
            <a:avLst/>
          </a:prstGeom>
        </p:spPr>
        <p:txBody>
          <a:bodyPr wrap="square" lIns="0" tIns="0" rIns="0" bIns="0" rtlCol="0" anchor="t">
            <a:spAutoFit/>
          </a:bodyPr>
          <a:lstStyle/>
          <a:p>
            <a:pPr marL="0" lvl="0" indent="0" algn="ctr">
              <a:lnSpc>
                <a:spcPts val="6720"/>
              </a:lnSpc>
            </a:pPr>
            <a:r>
              <a:rPr lang="en-US" sz="5600" dirty="0">
                <a:solidFill>
                  <a:srgbClr val="F5F5F5"/>
                </a:solidFill>
                <a:latin typeface="Telegraf Bold Bold"/>
              </a:rPr>
              <a:t>02</a:t>
            </a:r>
          </a:p>
        </p:txBody>
      </p:sp>
      <p:pic>
        <p:nvPicPr>
          <p:cNvPr id="40" name="Picture 39">
            <a:extLst>
              <a:ext uri="{FF2B5EF4-FFF2-40B4-BE49-F238E27FC236}">
                <a16:creationId xmlns:a16="http://schemas.microsoft.com/office/drawing/2014/main" id="{23D3F378-4766-39B7-F99A-99DF29A49BFA}"/>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41" name="Picture 40">
            <a:extLst>
              <a:ext uri="{FF2B5EF4-FFF2-40B4-BE49-F238E27FC236}">
                <a16:creationId xmlns:a16="http://schemas.microsoft.com/office/drawing/2014/main" id="{F5FF8B11-A12B-DDE6-E7C3-C40FA1731AF3}"/>
              </a:ext>
            </a:extLst>
          </p:cNvPr>
          <p:cNvPicPr>
            <a:picLocks noChangeAspect="1"/>
          </p:cNvPicPr>
          <p:nvPr/>
        </p:nvPicPr>
        <p:blipFill>
          <a:blip r:embed="rId3" cstate="print"/>
          <a:stretch>
            <a:fillRect/>
          </a:stretch>
        </p:blipFill>
        <p:spPr>
          <a:xfrm>
            <a:off x="1" y="289561"/>
            <a:ext cx="3200400" cy="846332"/>
          </a:xfrm>
          <a:prstGeom prst="rect">
            <a:avLst/>
          </a:prstGeom>
        </p:spPr>
      </p:pic>
      <p:grpSp>
        <p:nvGrpSpPr>
          <p:cNvPr id="30" name="Group 2">
            <a:extLst>
              <a:ext uri="{FF2B5EF4-FFF2-40B4-BE49-F238E27FC236}">
                <a16:creationId xmlns:a16="http://schemas.microsoft.com/office/drawing/2014/main" id="{4235915C-82DC-BF9C-BC69-E4AF0DCBEC34}"/>
              </a:ext>
            </a:extLst>
          </p:cNvPr>
          <p:cNvGrpSpPr/>
          <p:nvPr/>
        </p:nvGrpSpPr>
        <p:grpSpPr>
          <a:xfrm>
            <a:off x="9480366" y="2728249"/>
            <a:ext cx="4037125" cy="5864024"/>
            <a:chOff x="0" y="0"/>
            <a:chExt cx="1334464" cy="1679886"/>
          </a:xfrm>
        </p:grpSpPr>
        <p:sp>
          <p:nvSpPr>
            <p:cNvPr id="31" name="Freeform 3">
              <a:extLst>
                <a:ext uri="{FF2B5EF4-FFF2-40B4-BE49-F238E27FC236}">
                  <a16:creationId xmlns:a16="http://schemas.microsoft.com/office/drawing/2014/main" id="{44413462-59AB-004F-5F19-DA79F1E12624}"/>
                </a:ext>
              </a:extLst>
            </p:cNvPr>
            <p:cNvSpPr/>
            <p:nvPr/>
          </p:nvSpPr>
          <p:spPr>
            <a:xfrm>
              <a:off x="0" y="0"/>
              <a:ext cx="1334464" cy="1679886"/>
            </a:xfrm>
            <a:custGeom>
              <a:avLst/>
              <a:gdLst/>
              <a:ahLst/>
              <a:cxnLst/>
              <a:rect l="l" t="t" r="r" b="b"/>
              <a:pathLst>
                <a:path w="1334464" h="1679886">
                  <a:moveTo>
                    <a:pt x="77927" y="0"/>
                  </a:moveTo>
                  <a:lnTo>
                    <a:pt x="1256537" y="0"/>
                  </a:lnTo>
                  <a:cubicBezTo>
                    <a:pt x="1277204" y="0"/>
                    <a:pt x="1297025" y="8210"/>
                    <a:pt x="1311639" y="22824"/>
                  </a:cubicBezTo>
                  <a:cubicBezTo>
                    <a:pt x="1326254" y="37438"/>
                    <a:pt x="1334464" y="57259"/>
                    <a:pt x="1334464" y="77927"/>
                  </a:cubicBezTo>
                  <a:lnTo>
                    <a:pt x="1334464" y="1601960"/>
                  </a:lnTo>
                  <a:cubicBezTo>
                    <a:pt x="1334464" y="1622627"/>
                    <a:pt x="1326254" y="1642448"/>
                    <a:pt x="1311639" y="1657062"/>
                  </a:cubicBezTo>
                  <a:cubicBezTo>
                    <a:pt x="1297025" y="1671676"/>
                    <a:pt x="1277204" y="1679886"/>
                    <a:pt x="1256537" y="1679886"/>
                  </a:cubicBezTo>
                  <a:lnTo>
                    <a:pt x="77927" y="1679886"/>
                  </a:lnTo>
                  <a:cubicBezTo>
                    <a:pt x="57259" y="1679886"/>
                    <a:pt x="37438" y="1671676"/>
                    <a:pt x="22824" y="1657062"/>
                  </a:cubicBezTo>
                  <a:cubicBezTo>
                    <a:pt x="8210" y="1642448"/>
                    <a:pt x="0" y="1622627"/>
                    <a:pt x="0" y="1601960"/>
                  </a:cubicBezTo>
                  <a:lnTo>
                    <a:pt x="0" y="77927"/>
                  </a:lnTo>
                  <a:cubicBezTo>
                    <a:pt x="0" y="57259"/>
                    <a:pt x="8210" y="37438"/>
                    <a:pt x="22824" y="22824"/>
                  </a:cubicBezTo>
                  <a:cubicBezTo>
                    <a:pt x="37438" y="8210"/>
                    <a:pt x="57259" y="0"/>
                    <a:pt x="77927" y="0"/>
                  </a:cubicBezTo>
                  <a:close/>
                </a:path>
              </a:pathLst>
            </a:custGeom>
            <a:solidFill>
              <a:srgbClr val="F5F5F5"/>
            </a:solidFill>
          </p:spPr>
          <p:txBody>
            <a:bodyPr/>
            <a:lstStyle/>
            <a:p>
              <a:endParaRPr lang="en-IN" dirty="0"/>
            </a:p>
          </p:txBody>
        </p:sp>
        <p:sp>
          <p:nvSpPr>
            <p:cNvPr id="32" name="TextBox 4">
              <a:extLst>
                <a:ext uri="{FF2B5EF4-FFF2-40B4-BE49-F238E27FC236}">
                  <a16:creationId xmlns:a16="http://schemas.microsoft.com/office/drawing/2014/main" id="{59E16F0B-C979-2EA6-8387-1B3DEE9CA63F}"/>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33" name="Freeform 18"/>
          <p:cNvSpPr/>
          <p:nvPr/>
        </p:nvSpPr>
        <p:spPr>
          <a:xfrm>
            <a:off x="10520033" y="2766675"/>
            <a:ext cx="1887522" cy="1882744"/>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34" name="Freeform 18">
            <a:extLst>
              <a:ext uri="{FF2B5EF4-FFF2-40B4-BE49-F238E27FC236}">
                <a16:creationId xmlns:a16="http://schemas.microsoft.com/office/drawing/2014/main" id="{CC3628EC-6E33-D95E-8749-B60DCBD12E1A}"/>
              </a:ext>
            </a:extLst>
          </p:cNvPr>
          <p:cNvSpPr/>
          <p:nvPr/>
        </p:nvSpPr>
        <p:spPr>
          <a:xfrm>
            <a:off x="14869584" y="2742322"/>
            <a:ext cx="1887522" cy="1882744"/>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35" name="TextBox 34">
            <a:extLst>
              <a:ext uri="{FF2B5EF4-FFF2-40B4-BE49-F238E27FC236}">
                <a16:creationId xmlns:a16="http://schemas.microsoft.com/office/drawing/2014/main" id="{166A572B-EC76-159A-98B5-E47E85F5728B}"/>
              </a:ext>
            </a:extLst>
          </p:cNvPr>
          <p:cNvSpPr txBox="1"/>
          <p:nvPr/>
        </p:nvSpPr>
        <p:spPr>
          <a:xfrm>
            <a:off x="11016262" y="3226494"/>
            <a:ext cx="1161557" cy="954107"/>
          </a:xfrm>
          <a:prstGeom prst="rect">
            <a:avLst/>
          </a:prstGeom>
          <a:noFill/>
        </p:spPr>
        <p:txBody>
          <a:bodyPr wrap="square" rtlCol="0">
            <a:spAutoFit/>
          </a:bodyPr>
          <a:lstStyle/>
          <a:p>
            <a:r>
              <a:rPr lang="en-US" sz="5600" dirty="0">
                <a:solidFill>
                  <a:schemeClr val="bg1"/>
                </a:solidFill>
                <a:latin typeface="Telegraf Bold"/>
              </a:rPr>
              <a:t>03</a:t>
            </a:r>
            <a:endParaRPr lang="en-IN" sz="5600" dirty="0">
              <a:solidFill>
                <a:schemeClr val="bg1"/>
              </a:solidFill>
              <a:latin typeface="Telegraf Bold"/>
            </a:endParaRPr>
          </a:p>
        </p:txBody>
      </p:sp>
      <p:sp>
        <p:nvSpPr>
          <p:cNvPr id="37" name="TextBox 36">
            <a:extLst>
              <a:ext uri="{FF2B5EF4-FFF2-40B4-BE49-F238E27FC236}">
                <a16:creationId xmlns:a16="http://schemas.microsoft.com/office/drawing/2014/main" id="{11A5838A-9D88-C741-9894-00E37067782D}"/>
              </a:ext>
            </a:extLst>
          </p:cNvPr>
          <p:cNvSpPr txBox="1"/>
          <p:nvPr/>
        </p:nvSpPr>
        <p:spPr>
          <a:xfrm>
            <a:off x="15369540" y="3226494"/>
            <a:ext cx="920674" cy="954107"/>
          </a:xfrm>
          <a:prstGeom prst="rect">
            <a:avLst/>
          </a:prstGeom>
          <a:noFill/>
        </p:spPr>
        <p:txBody>
          <a:bodyPr wrap="square" rtlCol="0">
            <a:spAutoFit/>
          </a:bodyPr>
          <a:lstStyle/>
          <a:p>
            <a:r>
              <a:rPr lang="en-US" sz="5600" dirty="0">
                <a:solidFill>
                  <a:schemeClr val="bg1"/>
                </a:solidFill>
                <a:latin typeface="Telegraf Bold Bold" panose="020B0604020202020204"/>
              </a:rPr>
              <a:t>04</a:t>
            </a:r>
            <a:endParaRPr lang="en-IN" sz="5600" dirty="0">
              <a:solidFill>
                <a:schemeClr val="bg1"/>
              </a:solidFill>
              <a:latin typeface="Telegraf Bold Bold" panose="020B0604020202020204"/>
            </a:endParaRPr>
          </a:p>
        </p:txBody>
      </p:sp>
      <p:sp>
        <p:nvSpPr>
          <p:cNvPr id="42" name="TextBox 22">
            <a:extLst>
              <a:ext uri="{FF2B5EF4-FFF2-40B4-BE49-F238E27FC236}">
                <a16:creationId xmlns:a16="http://schemas.microsoft.com/office/drawing/2014/main" id="{01A69E8B-CA56-CA2C-6E5F-62A9C8B77DFC}"/>
              </a:ext>
            </a:extLst>
          </p:cNvPr>
          <p:cNvSpPr txBox="1"/>
          <p:nvPr/>
        </p:nvSpPr>
        <p:spPr>
          <a:xfrm flipH="1">
            <a:off x="9817353" y="5091056"/>
            <a:ext cx="3412115" cy="641201"/>
          </a:xfrm>
          <a:prstGeom prst="rect">
            <a:avLst/>
          </a:prstGeom>
        </p:spPr>
        <p:txBody>
          <a:bodyPr wrap="square" lIns="0" tIns="0" rIns="0" bIns="0" rtlCol="0" anchor="t">
            <a:spAutoFit/>
          </a:bodyPr>
          <a:lstStyle/>
          <a:p>
            <a:pPr marL="0" lvl="0" indent="0" algn="ctr">
              <a:lnSpc>
                <a:spcPts val="5040"/>
              </a:lnSpc>
            </a:pPr>
            <a:r>
              <a:rPr lang="en-US" sz="4200" u="none" dirty="0">
                <a:solidFill>
                  <a:srgbClr val="1A1A1A"/>
                </a:solidFill>
                <a:latin typeface="Telegraf Bold Bold"/>
              </a:rPr>
              <a:t>Problem 3</a:t>
            </a:r>
          </a:p>
        </p:txBody>
      </p:sp>
      <p:sp>
        <p:nvSpPr>
          <p:cNvPr id="44" name="TextBox 43">
            <a:extLst>
              <a:ext uri="{FF2B5EF4-FFF2-40B4-BE49-F238E27FC236}">
                <a16:creationId xmlns:a16="http://schemas.microsoft.com/office/drawing/2014/main" id="{6E9F8FE3-7E21-B0B8-D6F3-05C34A892304}"/>
              </a:ext>
            </a:extLst>
          </p:cNvPr>
          <p:cNvSpPr txBox="1"/>
          <p:nvPr/>
        </p:nvSpPr>
        <p:spPr>
          <a:xfrm>
            <a:off x="9635119" y="6322684"/>
            <a:ext cx="3746247" cy="1404808"/>
          </a:xfrm>
          <a:prstGeom prst="rect">
            <a:avLst/>
          </a:prstGeom>
          <a:noFill/>
        </p:spPr>
        <p:txBody>
          <a:bodyPr wrap="square">
            <a:spAutoFit/>
          </a:bodyPr>
          <a:lstStyle/>
          <a:p>
            <a:pPr lvl="0" algn="ctr">
              <a:lnSpc>
                <a:spcPts val="3359"/>
              </a:lnSpc>
            </a:pPr>
            <a:r>
              <a:rPr lang="en-US" sz="3200" dirty="0"/>
              <a:t>Lack of reliable and guided support </a:t>
            </a:r>
          </a:p>
          <a:p>
            <a:pPr lvl="0" algn="ctr">
              <a:lnSpc>
                <a:spcPts val="3359"/>
              </a:lnSpc>
            </a:pPr>
            <a:r>
              <a:rPr lang="en-US" sz="3200" dirty="0"/>
              <a:t>online</a:t>
            </a:r>
            <a:endParaRPr lang="en-US" sz="3200" dirty="0">
              <a:solidFill>
                <a:srgbClr val="1A1A1A"/>
              </a:solidFill>
              <a:latin typeface="Poppins"/>
            </a:endParaRPr>
          </a:p>
        </p:txBody>
      </p:sp>
      <p:sp>
        <p:nvSpPr>
          <p:cNvPr id="45" name="TextBox 44">
            <a:extLst>
              <a:ext uri="{FF2B5EF4-FFF2-40B4-BE49-F238E27FC236}">
                <a16:creationId xmlns:a16="http://schemas.microsoft.com/office/drawing/2014/main" id="{7ECFEA1C-69C7-6F9C-0DE5-0953FFFAA81C}"/>
              </a:ext>
            </a:extLst>
          </p:cNvPr>
          <p:cNvSpPr txBox="1"/>
          <p:nvPr/>
        </p:nvSpPr>
        <p:spPr>
          <a:xfrm>
            <a:off x="14362723" y="6017027"/>
            <a:ext cx="3087078" cy="2062103"/>
          </a:xfrm>
          <a:prstGeom prst="rect">
            <a:avLst/>
          </a:prstGeom>
          <a:noFill/>
        </p:spPr>
        <p:txBody>
          <a:bodyPr wrap="square" rtlCol="0">
            <a:spAutoFit/>
          </a:bodyPr>
          <a:lstStyle/>
          <a:p>
            <a:pPr algn="ctr"/>
            <a:r>
              <a:rPr lang="en-US" sz="3200" dirty="0"/>
              <a:t>Existing platforms are not tailored to their needs</a:t>
            </a:r>
            <a:endParaRPr lang="en-IN" sz="3200" dirty="0"/>
          </a:p>
        </p:txBody>
      </p:sp>
      <p:sp>
        <p:nvSpPr>
          <p:cNvPr id="28" name="TextBox 27">
            <a:extLst>
              <a:ext uri="{FF2B5EF4-FFF2-40B4-BE49-F238E27FC236}">
                <a16:creationId xmlns:a16="http://schemas.microsoft.com/office/drawing/2014/main" id="{002218B0-EEAD-6836-1A0B-C18542DCD3A1}"/>
              </a:ext>
            </a:extLst>
          </p:cNvPr>
          <p:cNvSpPr txBox="1"/>
          <p:nvPr/>
        </p:nvSpPr>
        <p:spPr>
          <a:xfrm>
            <a:off x="1929033" y="558108"/>
            <a:ext cx="15063567" cy="1631216"/>
          </a:xfrm>
          <a:prstGeom prst="rect">
            <a:avLst/>
          </a:prstGeom>
          <a:noFill/>
        </p:spPr>
        <p:txBody>
          <a:bodyPr wrap="square" rtlCol="0">
            <a:spAutoFit/>
          </a:bodyPr>
          <a:lstStyle/>
          <a:p>
            <a:pPr algn="ctr"/>
            <a:r>
              <a:rPr lang="en-IN" sz="10000" dirty="0">
                <a:solidFill>
                  <a:schemeClr val="accent6">
                    <a:lumMod val="60000"/>
                    <a:lumOff val="40000"/>
                  </a:schemeClr>
                </a:solidFill>
                <a:latin typeface="+mj-lt"/>
              </a:rPr>
              <a:t>The </a:t>
            </a:r>
            <a:r>
              <a:rPr lang="en-IN" sz="10000" dirty="0">
                <a:latin typeface="+mj-lt"/>
              </a:rPr>
              <a:t>Challenges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9290070" y="980363"/>
            <a:ext cx="7113705" cy="1798272"/>
            <a:chOff x="0" y="0"/>
            <a:chExt cx="2187552" cy="678980"/>
          </a:xfrm>
        </p:grpSpPr>
        <p:sp>
          <p:nvSpPr>
            <p:cNvPr id="3" name="Freeform 3"/>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8401346" y="1557676"/>
            <a:ext cx="890185" cy="867671"/>
            <a:chOff x="0" y="0"/>
            <a:chExt cx="406400" cy="405371"/>
          </a:xfrm>
        </p:grpSpPr>
        <p:sp>
          <p:nvSpPr>
            <p:cNvPr id="12" name="Freeform 12"/>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0" name="Group 20"/>
          <p:cNvGrpSpPr/>
          <p:nvPr/>
        </p:nvGrpSpPr>
        <p:grpSpPr>
          <a:xfrm>
            <a:off x="1028701" y="1218174"/>
            <a:ext cx="6616756" cy="8040125"/>
            <a:chOff x="0" y="0"/>
            <a:chExt cx="1869559" cy="2286203"/>
          </a:xfrm>
        </p:grpSpPr>
        <p:sp>
          <p:nvSpPr>
            <p:cNvPr id="21" name="Freeform 21"/>
            <p:cNvSpPr/>
            <p:nvPr/>
          </p:nvSpPr>
          <p:spPr>
            <a:xfrm>
              <a:off x="0" y="0"/>
              <a:ext cx="1869559" cy="2286203"/>
            </a:xfrm>
            <a:custGeom>
              <a:avLst/>
              <a:gdLst/>
              <a:ahLst/>
              <a:cxnLst/>
              <a:rect l="l" t="t" r="r" b="b"/>
              <a:pathLst>
                <a:path w="1869559" h="2286203">
                  <a:moveTo>
                    <a:pt x="58670" y="0"/>
                  </a:moveTo>
                  <a:lnTo>
                    <a:pt x="1810889" y="0"/>
                  </a:lnTo>
                  <a:cubicBezTo>
                    <a:pt x="1843292" y="0"/>
                    <a:pt x="1869559" y="26267"/>
                    <a:pt x="1869559" y="58670"/>
                  </a:cubicBezTo>
                  <a:lnTo>
                    <a:pt x="1869559" y="2227533"/>
                  </a:lnTo>
                  <a:cubicBezTo>
                    <a:pt x="1869559" y="2243093"/>
                    <a:pt x="1863378" y="2258016"/>
                    <a:pt x="1852375" y="2269019"/>
                  </a:cubicBezTo>
                  <a:cubicBezTo>
                    <a:pt x="1841372" y="2280022"/>
                    <a:pt x="1826449" y="2286203"/>
                    <a:pt x="1810889" y="2286203"/>
                  </a:cubicBezTo>
                  <a:lnTo>
                    <a:pt x="58670" y="2286203"/>
                  </a:lnTo>
                  <a:cubicBezTo>
                    <a:pt x="43110" y="2286203"/>
                    <a:pt x="28187" y="2280022"/>
                    <a:pt x="17184" y="2269019"/>
                  </a:cubicBezTo>
                  <a:cubicBezTo>
                    <a:pt x="6181" y="2258016"/>
                    <a:pt x="0" y="2243093"/>
                    <a:pt x="0" y="2227533"/>
                  </a:cubicBezTo>
                  <a:lnTo>
                    <a:pt x="0" y="58670"/>
                  </a:lnTo>
                  <a:cubicBezTo>
                    <a:pt x="0" y="26267"/>
                    <a:pt x="26267" y="0"/>
                    <a:pt x="58670" y="0"/>
                  </a:cubicBezTo>
                  <a:close/>
                </a:path>
              </a:pathLst>
            </a:custGeom>
            <a:solidFill>
              <a:srgbClr val="F5F5F5"/>
            </a:solidFill>
          </p:spPr>
          <p:txBody>
            <a:bodyPr/>
            <a:lstStyle/>
            <a:p>
              <a:endParaRPr lang="en-IN" dirty="0"/>
            </a:p>
          </p:txBody>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23" name="Freeform 23"/>
          <p:cNvSpPr/>
          <p:nvPr/>
        </p:nvSpPr>
        <p:spPr>
          <a:xfrm>
            <a:off x="2553542" y="1516729"/>
            <a:ext cx="3789739" cy="7394612"/>
          </a:xfrm>
          <a:custGeom>
            <a:avLst/>
            <a:gdLst/>
            <a:ahLst/>
            <a:cxnLst/>
            <a:rect l="l" t="t" r="r" b="b"/>
            <a:pathLst>
              <a:path w="3789739" h="7394612">
                <a:moveTo>
                  <a:pt x="0" y="0"/>
                </a:moveTo>
                <a:lnTo>
                  <a:pt x="3789739" y="0"/>
                </a:lnTo>
                <a:lnTo>
                  <a:pt x="3789739" y="7394612"/>
                </a:lnTo>
                <a:lnTo>
                  <a:pt x="0" y="7394612"/>
                </a:lnTo>
                <a:lnTo>
                  <a:pt x="0" y="0"/>
                </a:lnTo>
                <a:close/>
              </a:path>
            </a:pathLst>
          </a:custGeom>
          <a:blipFill>
            <a:blip r:embed="rId2"/>
            <a:stretch>
              <a:fillRect/>
            </a:stretch>
          </a:blipFill>
        </p:spPr>
        <p:txBody>
          <a:bodyPr/>
          <a:lstStyle/>
          <a:p>
            <a:endParaRPr lang="en-IN" dirty="0"/>
          </a:p>
        </p:txBody>
      </p:sp>
      <p:sp>
        <p:nvSpPr>
          <p:cNvPr id="28" name="TextBox 28"/>
          <p:cNvSpPr txBox="1"/>
          <p:nvPr/>
        </p:nvSpPr>
        <p:spPr>
          <a:xfrm>
            <a:off x="8554949" y="1672831"/>
            <a:ext cx="597965" cy="666849"/>
          </a:xfrm>
          <a:prstGeom prst="rect">
            <a:avLst/>
          </a:prstGeom>
        </p:spPr>
        <p:txBody>
          <a:bodyPr wrap="square" lIns="0" tIns="0" rIns="0" bIns="0" rtlCol="0" anchor="t">
            <a:spAutoFit/>
          </a:bodyPr>
          <a:lstStyle/>
          <a:p>
            <a:pPr marL="0" lvl="0" indent="0" algn="ctr">
              <a:lnSpc>
                <a:spcPts val="5208"/>
              </a:lnSpc>
            </a:pPr>
            <a:r>
              <a:rPr lang="en-US" sz="4340" dirty="0">
                <a:solidFill>
                  <a:srgbClr val="F5F5F5"/>
                </a:solidFill>
                <a:latin typeface="Telegraf Bold Bold"/>
              </a:rPr>
              <a:t>01</a:t>
            </a:r>
          </a:p>
        </p:txBody>
      </p:sp>
      <p:sp>
        <p:nvSpPr>
          <p:cNvPr id="31" name="TextBox 31"/>
          <p:cNvSpPr txBox="1"/>
          <p:nvPr/>
        </p:nvSpPr>
        <p:spPr>
          <a:xfrm>
            <a:off x="9546898" y="1117064"/>
            <a:ext cx="6616756" cy="1846659"/>
          </a:xfrm>
          <a:prstGeom prst="rect">
            <a:avLst/>
          </a:prstGeom>
        </p:spPr>
        <p:txBody>
          <a:bodyPr wrap="square" lIns="0" tIns="0" rIns="0" bIns="0" rtlCol="0" anchor="t">
            <a:spAutoFit/>
          </a:bodyPr>
          <a:lstStyle/>
          <a:p>
            <a:pPr marL="0" lvl="0" indent="0">
              <a:lnSpc>
                <a:spcPts val="4835"/>
              </a:lnSpc>
            </a:pPr>
            <a:r>
              <a:rPr lang="en-US" sz="4200" dirty="0">
                <a:solidFill>
                  <a:srgbClr val="1A1A1A"/>
                </a:solidFill>
                <a:latin typeface="Telegraf Bold Bold"/>
              </a:rPr>
              <a:t>Solution 1</a:t>
            </a:r>
          </a:p>
          <a:p>
            <a:pPr lvl="0">
              <a:lnSpc>
                <a:spcPts val="4835"/>
              </a:lnSpc>
            </a:pPr>
            <a:r>
              <a:rPr lang="en-IN" sz="3200" dirty="0">
                <a:latin typeface="+mj-lt"/>
              </a:rPr>
              <a:t>A full-stack accessible platform</a:t>
            </a:r>
            <a:endParaRPr lang="en-US" sz="3200" dirty="0">
              <a:solidFill>
                <a:srgbClr val="1A1A1A"/>
              </a:solidFill>
              <a:latin typeface="+mj-lt"/>
            </a:endParaRPr>
          </a:p>
          <a:p>
            <a:pPr marL="0" lvl="0" indent="0">
              <a:lnSpc>
                <a:spcPts val="4835"/>
              </a:lnSpc>
            </a:pPr>
            <a:endParaRPr lang="en-US" sz="4000" dirty="0">
              <a:solidFill>
                <a:srgbClr val="1A1A1A"/>
              </a:solidFill>
              <a:latin typeface="Telegraf Bold Bold"/>
            </a:endParaRPr>
          </a:p>
        </p:txBody>
      </p:sp>
      <p:pic>
        <p:nvPicPr>
          <p:cNvPr id="45" name="Picture 44">
            <a:extLst>
              <a:ext uri="{FF2B5EF4-FFF2-40B4-BE49-F238E27FC236}">
                <a16:creationId xmlns:a16="http://schemas.microsoft.com/office/drawing/2014/main" id="{9630748B-D555-C06F-5510-264054AE7D74}"/>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46" name="Picture 45">
            <a:extLst>
              <a:ext uri="{FF2B5EF4-FFF2-40B4-BE49-F238E27FC236}">
                <a16:creationId xmlns:a16="http://schemas.microsoft.com/office/drawing/2014/main" id="{A0F5C4D1-61D0-DAA0-5573-3E2288C34BBC}"/>
              </a:ext>
            </a:extLst>
          </p:cNvPr>
          <p:cNvPicPr>
            <a:picLocks noChangeAspect="1"/>
          </p:cNvPicPr>
          <p:nvPr/>
        </p:nvPicPr>
        <p:blipFill>
          <a:blip r:embed="rId4" cstate="print"/>
          <a:stretch>
            <a:fillRect/>
          </a:stretch>
        </p:blipFill>
        <p:spPr>
          <a:xfrm>
            <a:off x="1" y="289561"/>
            <a:ext cx="3200400" cy="846332"/>
          </a:xfrm>
          <a:prstGeom prst="rect">
            <a:avLst/>
          </a:prstGeom>
        </p:spPr>
      </p:pic>
      <p:grpSp>
        <p:nvGrpSpPr>
          <p:cNvPr id="38" name="Group 2">
            <a:extLst>
              <a:ext uri="{FF2B5EF4-FFF2-40B4-BE49-F238E27FC236}">
                <a16:creationId xmlns:a16="http://schemas.microsoft.com/office/drawing/2014/main" id="{A42771A3-6E28-D1C6-A685-3913A551D89A}"/>
              </a:ext>
            </a:extLst>
          </p:cNvPr>
          <p:cNvGrpSpPr/>
          <p:nvPr/>
        </p:nvGrpSpPr>
        <p:grpSpPr>
          <a:xfrm>
            <a:off x="9276360" y="2778635"/>
            <a:ext cx="7113705" cy="2509093"/>
            <a:chOff x="0" y="-38100"/>
            <a:chExt cx="2187552" cy="850900"/>
          </a:xfrm>
        </p:grpSpPr>
        <p:sp>
          <p:nvSpPr>
            <p:cNvPr id="40" name="Freeform 3">
              <a:extLst>
                <a:ext uri="{FF2B5EF4-FFF2-40B4-BE49-F238E27FC236}">
                  <a16:creationId xmlns:a16="http://schemas.microsoft.com/office/drawing/2014/main" id="{A9F5B622-AE43-A123-C3C2-365B8C60FB46}"/>
                </a:ext>
              </a:extLst>
            </p:cNvPr>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41" name="TextBox 4">
              <a:extLst>
                <a:ext uri="{FF2B5EF4-FFF2-40B4-BE49-F238E27FC236}">
                  <a16:creationId xmlns:a16="http://schemas.microsoft.com/office/drawing/2014/main" id="{DB6DE9B8-84F2-CC5B-7A2A-A307C72D0B48}"/>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0" name="Group 2">
            <a:extLst>
              <a:ext uri="{FF2B5EF4-FFF2-40B4-BE49-F238E27FC236}">
                <a16:creationId xmlns:a16="http://schemas.microsoft.com/office/drawing/2014/main" id="{5AF52DFF-C5FB-19C8-5DE2-938EA24E0C2E}"/>
              </a:ext>
            </a:extLst>
          </p:cNvPr>
          <p:cNvGrpSpPr/>
          <p:nvPr/>
        </p:nvGrpSpPr>
        <p:grpSpPr>
          <a:xfrm>
            <a:off x="9230125" y="5001607"/>
            <a:ext cx="7173649" cy="4790094"/>
            <a:chOff x="0" y="0"/>
            <a:chExt cx="2187552" cy="678980"/>
          </a:xfrm>
        </p:grpSpPr>
        <p:sp>
          <p:nvSpPr>
            <p:cNvPr id="51" name="Freeform 3">
              <a:extLst>
                <a:ext uri="{FF2B5EF4-FFF2-40B4-BE49-F238E27FC236}">
                  <a16:creationId xmlns:a16="http://schemas.microsoft.com/office/drawing/2014/main" id="{CD315F5C-DA5A-2D25-8B88-70DEB78B95BA}"/>
                </a:ext>
              </a:extLst>
            </p:cNvPr>
            <p:cNvSpPr/>
            <p:nvPr/>
          </p:nvSpPr>
          <p:spPr>
            <a:xfrm>
              <a:off x="0" y="0"/>
              <a:ext cx="2187552" cy="678980"/>
            </a:xfrm>
            <a:custGeom>
              <a:avLst/>
              <a:gdLst/>
              <a:ahLst/>
              <a:cxnLst/>
              <a:rect l="l" t="t" r="r" b="b"/>
              <a:pathLst>
                <a:path w="2187552" h="678980">
                  <a:moveTo>
                    <a:pt x="49545" y="0"/>
                  </a:moveTo>
                  <a:lnTo>
                    <a:pt x="2138007" y="0"/>
                  </a:lnTo>
                  <a:cubicBezTo>
                    <a:pt x="2151147" y="0"/>
                    <a:pt x="2163749" y="5220"/>
                    <a:pt x="2173040" y="14511"/>
                  </a:cubicBezTo>
                  <a:cubicBezTo>
                    <a:pt x="2182332" y="23803"/>
                    <a:pt x="2187552" y="36405"/>
                    <a:pt x="2187552" y="49545"/>
                  </a:cubicBezTo>
                  <a:lnTo>
                    <a:pt x="2187552" y="629435"/>
                  </a:lnTo>
                  <a:cubicBezTo>
                    <a:pt x="2187552" y="642575"/>
                    <a:pt x="2182332" y="655177"/>
                    <a:pt x="2173040" y="664468"/>
                  </a:cubicBezTo>
                  <a:cubicBezTo>
                    <a:pt x="2163749" y="673760"/>
                    <a:pt x="2151147" y="678980"/>
                    <a:pt x="2138007" y="678980"/>
                  </a:cubicBezTo>
                  <a:lnTo>
                    <a:pt x="49545" y="678980"/>
                  </a:lnTo>
                  <a:cubicBezTo>
                    <a:pt x="36405" y="678980"/>
                    <a:pt x="23803" y="673760"/>
                    <a:pt x="14511" y="664468"/>
                  </a:cubicBezTo>
                  <a:cubicBezTo>
                    <a:pt x="5220" y="655177"/>
                    <a:pt x="0" y="642575"/>
                    <a:pt x="0" y="629435"/>
                  </a:cubicBezTo>
                  <a:lnTo>
                    <a:pt x="0" y="49545"/>
                  </a:lnTo>
                  <a:cubicBezTo>
                    <a:pt x="0" y="36405"/>
                    <a:pt x="5220" y="23803"/>
                    <a:pt x="14511" y="14511"/>
                  </a:cubicBezTo>
                  <a:cubicBezTo>
                    <a:pt x="23803" y="5220"/>
                    <a:pt x="36405" y="0"/>
                    <a:pt x="49545" y="0"/>
                  </a:cubicBezTo>
                  <a:close/>
                </a:path>
              </a:pathLst>
            </a:custGeom>
            <a:solidFill>
              <a:srgbClr val="F5F5F5"/>
            </a:solidFill>
          </p:spPr>
          <p:txBody>
            <a:bodyPr/>
            <a:lstStyle/>
            <a:p>
              <a:endParaRPr lang="en-IN" dirty="0"/>
            </a:p>
          </p:txBody>
        </p:sp>
        <p:sp>
          <p:nvSpPr>
            <p:cNvPr id="52" name="TextBox 4">
              <a:extLst>
                <a:ext uri="{FF2B5EF4-FFF2-40B4-BE49-F238E27FC236}">
                  <a16:creationId xmlns:a16="http://schemas.microsoft.com/office/drawing/2014/main" id="{66E07748-AE18-5F7B-068C-CC7527B61358}"/>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67" name="Rectangle: Rounded Corners 66">
            <a:extLst>
              <a:ext uri="{FF2B5EF4-FFF2-40B4-BE49-F238E27FC236}">
                <a16:creationId xmlns:a16="http://schemas.microsoft.com/office/drawing/2014/main" id="{7ECE14EA-A2B8-BD2D-D8E6-49FA4ED46030}"/>
              </a:ext>
            </a:extLst>
          </p:cNvPr>
          <p:cNvSpPr/>
          <p:nvPr/>
        </p:nvSpPr>
        <p:spPr>
          <a:xfrm>
            <a:off x="2819401" y="1600616"/>
            <a:ext cx="3281178" cy="6027459"/>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70" name="TextBox 26"/>
          <p:cNvSpPr txBox="1"/>
          <p:nvPr/>
        </p:nvSpPr>
        <p:spPr>
          <a:xfrm>
            <a:off x="1293376" y="7166790"/>
            <a:ext cx="3086101" cy="3230759"/>
          </a:xfrm>
          <a:prstGeom prst="rect">
            <a:avLst/>
          </a:prstGeom>
        </p:spPr>
        <p:txBody>
          <a:bodyPr lIns="50800" tIns="50800" rIns="50800" bIns="50800" rtlCol="0" anchor="ctr"/>
          <a:lstStyle/>
          <a:p>
            <a:pPr algn="ctr">
              <a:lnSpc>
                <a:spcPts val="3360"/>
              </a:lnSpc>
            </a:pPr>
            <a:endParaRPr/>
          </a:p>
        </p:txBody>
      </p:sp>
      <p:sp>
        <p:nvSpPr>
          <p:cNvPr id="71" name="Rectangle: Rounded Corners 70">
            <a:extLst>
              <a:ext uri="{FF2B5EF4-FFF2-40B4-BE49-F238E27FC236}">
                <a16:creationId xmlns:a16="http://schemas.microsoft.com/office/drawing/2014/main" id="{FAC5A7FD-FD7F-D400-4CE6-5D27C0C40079}"/>
              </a:ext>
            </a:extLst>
          </p:cNvPr>
          <p:cNvSpPr/>
          <p:nvPr/>
        </p:nvSpPr>
        <p:spPr>
          <a:xfrm>
            <a:off x="1656369" y="7258769"/>
            <a:ext cx="5446216" cy="1810057"/>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p>
        </p:txBody>
      </p:sp>
      <p:sp>
        <p:nvSpPr>
          <p:cNvPr id="72" name="TextBox 37"/>
          <p:cNvSpPr txBox="1"/>
          <p:nvPr/>
        </p:nvSpPr>
        <p:spPr>
          <a:xfrm>
            <a:off x="4205709" y="7879491"/>
            <a:ext cx="3789739" cy="709681"/>
          </a:xfrm>
          <a:prstGeom prst="rect">
            <a:avLst/>
          </a:prstGeom>
        </p:spPr>
        <p:txBody>
          <a:bodyPr wrap="square" lIns="0" tIns="0" rIns="0" bIns="0" rtlCol="0" anchor="t">
            <a:spAutoFit/>
          </a:bodyPr>
          <a:lstStyle/>
          <a:p>
            <a:pPr>
              <a:lnSpc>
                <a:spcPts val="5880"/>
              </a:lnSpc>
            </a:pPr>
            <a:r>
              <a:rPr lang="en-US" sz="4200" dirty="0">
                <a:latin typeface="Telegraf Bold"/>
              </a:rPr>
              <a:t>PRIHUB</a:t>
            </a:r>
          </a:p>
        </p:txBody>
      </p:sp>
      <p:pic>
        <p:nvPicPr>
          <p:cNvPr id="73" name="Picture 72">
            <a:extLst>
              <a:ext uri="{FF2B5EF4-FFF2-40B4-BE49-F238E27FC236}">
                <a16:creationId xmlns:a16="http://schemas.microsoft.com/office/drawing/2014/main" id="{44AFCC2F-8FB1-50A4-D669-65DCEB3340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92551" y="7924691"/>
            <a:ext cx="690034" cy="690034"/>
          </a:xfrm>
          <a:prstGeom prst="rect">
            <a:avLst/>
          </a:prstGeom>
        </p:spPr>
      </p:pic>
      <p:pic>
        <p:nvPicPr>
          <p:cNvPr id="74" name="Picture 73">
            <a:extLst>
              <a:ext uri="{FF2B5EF4-FFF2-40B4-BE49-F238E27FC236}">
                <a16:creationId xmlns:a16="http://schemas.microsoft.com/office/drawing/2014/main" id="{8806FF6E-8C2D-A252-30C7-A65F7A1818FD}"/>
              </a:ext>
            </a:extLst>
          </p:cNvPr>
          <p:cNvPicPr>
            <a:picLocks noChangeAspect="1"/>
          </p:cNvPicPr>
          <p:nvPr/>
        </p:nvPicPr>
        <p:blipFill>
          <a:blip r:embed="rId6"/>
          <a:stretch>
            <a:fillRect/>
          </a:stretch>
        </p:blipFill>
        <p:spPr>
          <a:xfrm rot="20389410">
            <a:off x="3436574" y="4442031"/>
            <a:ext cx="2383408" cy="721969"/>
          </a:xfrm>
          <a:prstGeom prst="rect">
            <a:avLst/>
          </a:prstGeom>
        </p:spPr>
      </p:pic>
      <p:sp>
        <p:nvSpPr>
          <p:cNvPr id="76" name="TextBox 75">
            <a:extLst>
              <a:ext uri="{FF2B5EF4-FFF2-40B4-BE49-F238E27FC236}">
                <a16:creationId xmlns:a16="http://schemas.microsoft.com/office/drawing/2014/main" id="{7621F392-A649-8465-58B4-95BDC0067A96}"/>
              </a:ext>
            </a:extLst>
          </p:cNvPr>
          <p:cNvSpPr txBox="1"/>
          <p:nvPr/>
        </p:nvSpPr>
        <p:spPr>
          <a:xfrm>
            <a:off x="9437662" y="2957545"/>
            <a:ext cx="5465143" cy="1723549"/>
          </a:xfrm>
          <a:prstGeom prst="rect">
            <a:avLst/>
          </a:prstGeom>
          <a:noFill/>
        </p:spPr>
        <p:txBody>
          <a:bodyPr wrap="square" rtlCol="0">
            <a:spAutoFit/>
          </a:bodyPr>
          <a:lstStyle/>
          <a:p>
            <a:r>
              <a:rPr lang="en-IN" sz="4200" dirty="0"/>
              <a:t>Solution 2</a:t>
            </a:r>
          </a:p>
          <a:p>
            <a:r>
              <a:rPr lang="en-US" sz="3200" dirty="0"/>
              <a:t>Designed for users with cognitive disabilities</a:t>
            </a:r>
            <a:endParaRPr lang="en-IN" sz="3200" dirty="0"/>
          </a:p>
        </p:txBody>
      </p:sp>
      <p:sp>
        <p:nvSpPr>
          <p:cNvPr id="77" name="TextBox 76">
            <a:extLst>
              <a:ext uri="{FF2B5EF4-FFF2-40B4-BE49-F238E27FC236}">
                <a16:creationId xmlns:a16="http://schemas.microsoft.com/office/drawing/2014/main" id="{9E1D50DD-02C9-9B68-A507-0C30575B262B}"/>
              </a:ext>
            </a:extLst>
          </p:cNvPr>
          <p:cNvSpPr txBox="1"/>
          <p:nvPr/>
        </p:nvSpPr>
        <p:spPr>
          <a:xfrm>
            <a:off x="9442510" y="5157465"/>
            <a:ext cx="6932384" cy="4154984"/>
          </a:xfrm>
          <a:prstGeom prst="rect">
            <a:avLst/>
          </a:prstGeom>
          <a:noFill/>
        </p:spPr>
        <p:txBody>
          <a:bodyPr wrap="square" rtlCol="0">
            <a:spAutoFit/>
          </a:bodyPr>
          <a:lstStyle/>
          <a:p>
            <a:r>
              <a:rPr lang="en-IN" sz="4200" dirty="0"/>
              <a:t>Solution 3</a:t>
            </a:r>
          </a:p>
          <a:p>
            <a:r>
              <a:rPr lang="en-US" sz="3200" dirty="0"/>
              <a:t>Offers:</a:t>
            </a:r>
          </a:p>
          <a:p>
            <a:pPr marL="857250" indent="-857250">
              <a:buFont typeface="+mj-lt"/>
              <a:buAutoNum type="romanLcPeriod"/>
            </a:pPr>
            <a:r>
              <a:rPr lang="en-US" sz="3200" dirty="0"/>
              <a:t>Easy-to-read content</a:t>
            </a:r>
          </a:p>
          <a:p>
            <a:pPr marL="857250" indent="-857250">
              <a:buFont typeface="+mj-lt"/>
              <a:buAutoNum type="romanLcPeriod"/>
            </a:pPr>
            <a:r>
              <a:rPr lang="en-US" sz="3200" dirty="0"/>
              <a:t>Step-by-step guidance</a:t>
            </a:r>
          </a:p>
          <a:p>
            <a:pPr marL="857250" indent="-857250">
              <a:buFont typeface="+mj-lt"/>
              <a:buAutoNum type="romanLcPeriod"/>
            </a:pPr>
            <a:r>
              <a:rPr lang="en-US" sz="3200" dirty="0"/>
              <a:t>Visual aids</a:t>
            </a:r>
          </a:p>
          <a:p>
            <a:pPr marL="857250" indent="-857250">
              <a:buFont typeface="+mj-lt"/>
              <a:buAutoNum type="romanLcPeriod"/>
            </a:pPr>
            <a:r>
              <a:rPr lang="en-US" sz="3200" dirty="0"/>
              <a:t>Consistent UI/UX</a:t>
            </a:r>
          </a:p>
          <a:p>
            <a:pPr marL="857250" indent="-857250">
              <a:buFont typeface="+mj-lt"/>
              <a:buAutoNum type="romanLcPeriod"/>
            </a:pPr>
            <a:r>
              <a:rPr lang="en-US" sz="3200" dirty="0"/>
              <a:t>AI-powered chatbot for real-time help</a:t>
            </a:r>
          </a:p>
        </p:txBody>
      </p:sp>
      <p:grpSp>
        <p:nvGrpSpPr>
          <p:cNvPr id="80" name="Group 11">
            <a:extLst>
              <a:ext uri="{FF2B5EF4-FFF2-40B4-BE49-F238E27FC236}">
                <a16:creationId xmlns:a16="http://schemas.microsoft.com/office/drawing/2014/main" id="{C0483F7E-BC13-66AE-60DE-117AF2800871}"/>
              </a:ext>
            </a:extLst>
          </p:cNvPr>
          <p:cNvGrpSpPr/>
          <p:nvPr/>
        </p:nvGrpSpPr>
        <p:grpSpPr>
          <a:xfrm>
            <a:off x="8394637" y="3452440"/>
            <a:ext cx="890185" cy="867671"/>
            <a:chOff x="0" y="0"/>
            <a:chExt cx="406400" cy="405371"/>
          </a:xfrm>
        </p:grpSpPr>
        <p:sp>
          <p:nvSpPr>
            <p:cNvPr id="81" name="Freeform 12">
              <a:extLst>
                <a:ext uri="{FF2B5EF4-FFF2-40B4-BE49-F238E27FC236}">
                  <a16:creationId xmlns:a16="http://schemas.microsoft.com/office/drawing/2014/main" id="{FB6EC2C0-4EB4-F5A4-5BD9-456A76B4E2D9}"/>
                </a:ext>
              </a:extLst>
            </p:cNvPr>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82" name="TextBox 13">
              <a:extLst>
                <a:ext uri="{FF2B5EF4-FFF2-40B4-BE49-F238E27FC236}">
                  <a16:creationId xmlns:a16="http://schemas.microsoft.com/office/drawing/2014/main" id="{47814FC7-CB34-54EB-2368-A4ABBF56BF35}"/>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3" name="Group 11">
            <a:extLst>
              <a:ext uri="{FF2B5EF4-FFF2-40B4-BE49-F238E27FC236}">
                <a16:creationId xmlns:a16="http://schemas.microsoft.com/office/drawing/2014/main" id="{804EB2BF-1803-C162-BB1B-173E3C4A8D11}"/>
              </a:ext>
            </a:extLst>
          </p:cNvPr>
          <p:cNvGrpSpPr/>
          <p:nvPr/>
        </p:nvGrpSpPr>
        <p:grpSpPr>
          <a:xfrm>
            <a:off x="8428956" y="6705804"/>
            <a:ext cx="890185" cy="867671"/>
            <a:chOff x="0" y="0"/>
            <a:chExt cx="406400" cy="405371"/>
          </a:xfrm>
        </p:grpSpPr>
        <p:sp>
          <p:nvSpPr>
            <p:cNvPr id="84" name="Freeform 12">
              <a:extLst>
                <a:ext uri="{FF2B5EF4-FFF2-40B4-BE49-F238E27FC236}">
                  <a16:creationId xmlns:a16="http://schemas.microsoft.com/office/drawing/2014/main" id="{16392430-14AB-4642-1578-8F04465F3CAD}"/>
                </a:ext>
              </a:extLst>
            </p:cNvPr>
            <p:cNvSpPr/>
            <p:nvPr/>
          </p:nvSpPr>
          <p:spPr>
            <a:xfrm>
              <a:off x="0" y="0"/>
              <a:ext cx="406400" cy="405371"/>
            </a:xfrm>
            <a:custGeom>
              <a:avLst/>
              <a:gdLst/>
              <a:ahLst/>
              <a:cxnLst/>
              <a:rect l="l" t="t" r="r" b="b"/>
              <a:pathLst>
                <a:path w="406400" h="405371">
                  <a:moveTo>
                    <a:pt x="202686" y="0"/>
                  </a:moveTo>
                  <a:lnTo>
                    <a:pt x="203714" y="0"/>
                  </a:lnTo>
                  <a:cubicBezTo>
                    <a:pt x="257470" y="0"/>
                    <a:pt x="309024" y="21354"/>
                    <a:pt x="347035" y="59365"/>
                  </a:cubicBezTo>
                  <a:cubicBezTo>
                    <a:pt x="385046" y="97376"/>
                    <a:pt x="406400" y="148930"/>
                    <a:pt x="406400" y="202686"/>
                  </a:cubicBezTo>
                  <a:lnTo>
                    <a:pt x="406400" y="202686"/>
                  </a:lnTo>
                  <a:cubicBezTo>
                    <a:pt x="406400" y="314626"/>
                    <a:pt x="315655" y="405371"/>
                    <a:pt x="203714" y="405371"/>
                  </a:cubicBezTo>
                  <a:lnTo>
                    <a:pt x="202686" y="405371"/>
                  </a:lnTo>
                  <a:cubicBezTo>
                    <a:pt x="148930" y="405371"/>
                    <a:pt x="97376" y="384017"/>
                    <a:pt x="59365" y="346006"/>
                  </a:cubicBezTo>
                  <a:cubicBezTo>
                    <a:pt x="21354" y="307995"/>
                    <a:pt x="0" y="256441"/>
                    <a:pt x="0" y="202686"/>
                  </a:cubicBezTo>
                  <a:lnTo>
                    <a:pt x="0" y="202686"/>
                  </a:lnTo>
                  <a:cubicBezTo>
                    <a:pt x="0" y="148930"/>
                    <a:pt x="21354" y="97376"/>
                    <a:pt x="59365" y="59365"/>
                  </a:cubicBezTo>
                  <a:cubicBezTo>
                    <a:pt x="97376" y="21354"/>
                    <a:pt x="148930" y="0"/>
                    <a:pt x="202686" y="0"/>
                  </a:cubicBezTo>
                  <a:close/>
                </a:path>
              </a:pathLst>
            </a:custGeom>
            <a:solidFill>
              <a:srgbClr val="ECA406"/>
            </a:solidFill>
          </p:spPr>
          <p:txBody>
            <a:bodyPr/>
            <a:lstStyle/>
            <a:p>
              <a:endParaRPr lang="en-IN"/>
            </a:p>
          </p:txBody>
        </p:sp>
        <p:sp>
          <p:nvSpPr>
            <p:cNvPr id="85" name="TextBox 13">
              <a:extLst>
                <a:ext uri="{FF2B5EF4-FFF2-40B4-BE49-F238E27FC236}">
                  <a16:creationId xmlns:a16="http://schemas.microsoft.com/office/drawing/2014/main" id="{3EE0E7B3-EA0F-BC1B-31E4-35BA190D8A3C}"/>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86" name="TextBox 85">
            <a:extLst>
              <a:ext uri="{FF2B5EF4-FFF2-40B4-BE49-F238E27FC236}">
                <a16:creationId xmlns:a16="http://schemas.microsoft.com/office/drawing/2014/main" id="{2E4AA087-9A4F-B7D2-68FA-E7688264B8CF}"/>
              </a:ext>
            </a:extLst>
          </p:cNvPr>
          <p:cNvSpPr txBox="1"/>
          <p:nvPr/>
        </p:nvSpPr>
        <p:spPr>
          <a:xfrm>
            <a:off x="8457348" y="3560921"/>
            <a:ext cx="772778" cy="707886"/>
          </a:xfrm>
          <a:prstGeom prst="rect">
            <a:avLst/>
          </a:prstGeom>
          <a:noFill/>
        </p:spPr>
        <p:txBody>
          <a:bodyPr wrap="square" rtlCol="0">
            <a:spAutoFit/>
          </a:bodyPr>
          <a:lstStyle/>
          <a:p>
            <a:r>
              <a:rPr lang="en-IN" sz="4000" dirty="0">
                <a:solidFill>
                  <a:schemeClr val="bg1"/>
                </a:solidFill>
              </a:rPr>
              <a:t>02</a:t>
            </a:r>
          </a:p>
        </p:txBody>
      </p:sp>
      <p:sp>
        <p:nvSpPr>
          <p:cNvPr id="87" name="TextBox 86">
            <a:extLst>
              <a:ext uri="{FF2B5EF4-FFF2-40B4-BE49-F238E27FC236}">
                <a16:creationId xmlns:a16="http://schemas.microsoft.com/office/drawing/2014/main" id="{B569B529-A983-F330-E1F0-D0CC0023FB8F}"/>
              </a:ext>
            </a:extLst>
          </p:cNvPr>
          <p:cNvSpPr txBox="1"/>
          <p:nvPr/>
        </p:nvSpPr>
        <p:spPr>
          <a:xfrm>
            <a:off x="8516470" y="6812847"/>
            <a:ext cx="735333" cy="707886"/>
          </a:xfrm>
          <a:prstGeom prst="rect">
            <a:avLst/>
          </a:prstGeom>
          <a:noFill/>
        </p:spPr>
        <p:txBody>
          <a:bodyPr wrap="square" rtlCol="0">
            <a:spAutoFit/>
          </a:bodyPr>
          <a:lstStyle/>
          <a:p>
            <a:r>
              <a:rPr lang="en-IN" sz="4000" dirty="0">
                <a:solidFill>
                  <a:schemeClr val="bg1"/>
                </a:solidFil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Group 5"/>
          <p:cNvGrpSpPr/>
          <p:nvPr/>
        </p:nvGrpSpPr>
        <p:grpSpPr>
          <a:xfrm>
            <a:off x="501460" y="1246254"/>
            <a:ext cx="5615932" cy="3937753"/>
            <a:chOff x="0" y="0"/>
            <a:chExt cx="2998640" cy="1133469"/>
          </a:xfrm>
        </p:grpSpPr>
        <p:sp>
          <p:nvSpPr>
            <p:cNvPr id="6" name="Freeform 6"/>
            <p:cNvSpPr/>
            <p:nvPr/>
          </p:nvSpPr>
          <p:spPr>
            <a:xfrm>
              <a:off x="0" y="0"/>
              <a:ext cx="2998640" cy="1133469"/>
            </a:xfrm>
            <a:custGeom>
              <a:avLst/>
              <a:gdLst/>
              <a:ahLst/>
              <a:cxnLst/>
              <a:rect l="l" t="t" r="r" b="b"/>
              <a:pathLst>
                <a:path w="2998640" h="1133469">
                  <a:moveTo>
                    <a:pt x="36144" y="0"/>
                  </a:moveTo>
                  <a:lnTo>
                    <a:pt x="2962496" y="0"/>
                  </a:lnTo>
                  <a:cubicBezTo>
                    <a:pt x="2972082" y="0"/>
                    <a:pt x="2981275" y="3808"/>
                    <a:pt x="2988054" y="10586"/>
                  </a:cubicBezTo>
                  <a:cubicBezTo>
                    <a:pt x="2994832" y="17365"/>
                    <a:pt x="2998640" y="26558"/>
                    <a:pt x="2998640" y="36144"/>
                  </a:cubicBezTo>
                  <a:lnTo>
                    <a:pt x="2998640" y="1097325"/>
                  </a:lnTo>
                  <a:cubicBezTo>
                    <a:pt x="2998640" y="1106911"/>
                    <a:pt x="2994832" y="1116104"/>
                    <a:pt x="2988054" y="1122883"/>
                  </a:cubicBezTo>
                  <a:cubicBezTo>
                    <a:pt x="2981275" y="1129661"/>
                    <a:pt x="2972082" y="1133469"/>
                    <a:pt x="2962496" y="1133469"/>
                  </a:cubicBezTo>
                  <a:lnTo>
                    <a:pt x="36144" y="1133469"/>
                  </a:lnTo>
                  <a:cubicBezTo>
                    <a:pt x="26558" y="1133469"/>
                    <a:pt x="17365" y="1129661"/>
                    <a:pt x="10586" y="1122883"/>
                  </a:cubicBezTo>
                  <a:cubicBezTo>
                    <a:pt x="3808" y="1116104"/>
                    <a:pt x="0" y="1106911"/>
                    <a:pt x="0" y="1097325"/>
                  </a:cubicBezTo>
                  <a:lnTo>
                    <a:pt x="0" y="36144"/>
                  </a:lnTo>
                  <a:cubicBezTo>
                    <a:pt x="0" y="26558"/>
                    <a:pt x="3808" y="17365"/>
                    <a:pt x="10586" y="10586"/>
                  </a:cubicBezTo>
                  <a:cubicBezTo>
                    <a:pt x="17365" y="3808"/>
                    <a:pt x="26558" y="0"/>
                    <a:pt x="36144" y="0"/>
                  </a:cubicBezTo>
                  <a:close/>
                </a:path>
              </a:pathLst>
            </a:custGeom>
            <a:solidFill>
              <a:srgbClr val="ECA406"/>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2147331" y="5383810"/>
            <a:ext cx="5661073" cy="4613629"/>
            <a:chOff x="0" y="0"/>
            <a:chExt cx="1432647" cy="1133469"/>
          </a:xfrm>
        </p:grpSpPr>
        <p:sp>
          <p:nvSpPr>
            <p:cNvPr id="9" name="Freeform 9"/>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6442435" y="5383810"/>
            <a:ext cx="5379854" cy="4613629"/>
            <a:chOff x="0" y="0"/>
            <a:chExt cx="1432647" cy="1133469"/>
          </a:xfrm>
        </p:grpSpPr>
        <p:sp>
          <p:nvSpPr>
            <p:cNvPr id="12" name="Freeform 12"/>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sz="3600"/>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sz="3600"/>
            </a:p>
          </p:txBody>
        </p:sp>
      </p:grpSp>
      <p:grpSp>
        <p:nvGrpSpPr>
          <p:cNvPr id="14" name="Group 14"/>
          <p:cNvGrpSpPr/>
          <p:nvPr/>
        </p:nvGrpSpPr>
        <p:grpSpPr>
          <a:xfrm>
            <a:off x="479595" y="5383810"/>
            <a:ext cx="5637798" cy="4613629"/>
            <a:chOff x="0" y="0"/>
            <a:chExt cx="1432647" cy="1133469"/>
          </a:xfrm>
        </p:grpSpPr>
        <p:sp>
          <p:nvSpPr>
            <p:cNvPr id="15" name="Freeform 15"/>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7" name="TextBox 17"/>
          <p:cNvSpPr txBox="1"/>
          <p:nvPr/>
        </p:nvSpPr>
        <p:spPr>
          <a:xfrm>
            <a:off x="1219200" y="1527832"/>
            <a:ext cx="4544254" cy="2582758"/>
          </a:xfrm>
          <a:prstGeom prst="rect">
            <a:avLst/>
          </a:prstGeom>
        </p:spPr>
        <p:txBody>
          <a:bodyPr wrap="square" lIns="0" tIns="0" rIns="0" bIns="0" rtlCol="0" anchor="t">
            <a:spAutoFit/>
          </a:bodyPr>
          <a:lstStyle/>
          <a:p>
            <a:pPr algn="ctr">
              <a:lnSpc>
                <a:spcPts val="9999"/>
              </a:lnSpc>
            </a:pPr>
            <a:r>
              <a:rPr lang="en-US" sz="9999" dirty="0">
                <a:solidFill>
                  <a:srgbClr val="F5F5F5"/>
                </a:solidFill>
                <a:latin typeface="Telegraf Bold Bold"/>
              </a:rPr>
              <a:t>Key</a:t>
            </a:r>
          </a:p>
          <a:p>
            <a:pPr marL="0" lvl="0" indent="0" algn="ctr">
              <a:lnSpc>
                <a:spcPts val="9999"/>
              </a:lnSpc>
            </a:pPr>
            <a:r>
              <a:rPr lang="en-US" sz="9999" dirty="0">
                <a:solidFill>
                  <a:srgbClr val="F5F5F5"/>
                </a:solidFill>
                <a:latin typeface="Telegraf Bold Bold"/>
              </a:rPr>
              <a:t>Features</a:t>
            </a:r>
          </a:p>
        </p:txBody>
      </p:sp>
      <p:sp>
        <p:nvSpPr>
          <p:cNvPr id="20" name="TextBox 20"/>
          <p:cNvSpPr txBox="1"/>
          <p:nvPr/>
        </p:nvSpPr>
        <p:spPr>
          <a:xfrm>
            <a:off x="12298545" y="5735503"/>
            <a:ext cx="5379854" cy="4488408"/>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5</a:t>
            </a:r>
          </a:p>
          <a:p>
            <a:pPr lvl="0" algn="ctr">
              <a:lnSpc>
                <a:spcPts val="5040"/>
              </a:lnSpc>
            </a:pPr>
            <a:r>
              <a:rPr lang="en-IN" sz="3200" dirty="0"/>
              <a:t>Step-by-step instructional guides </a:t>
            </a:r>
            <a:r>
              <a:rPr lang="en-US" altLang="en-US" sz="3200" dirty="0">
                <a:latin typeface="+mj-lt"/>
              </a:rPr>
              <a:t>Break complex tasks </a:t>
            </a:r>
          </a:p>
          <a:p>
            <a:pPr lvl="0" algn="ctr">
              <a:lnSpc>
                <a:spcPts val="5040"/>
              </a:lnSpc>
            </a:pPr>
            <a:r>
              <a:rPr lang="en-US" altLang="en-US" sz="3200" dirty="0">
                <a:latin typeface="+mj-lt"/>
              </a:rPr>
              <a:t>into manageable steps, Offer real-time feedback or hints</a:t>
            </a:r>
          </a:p>
          <a:p>
            <a:pPr lvl="0" algn="ctr">
              <a:lnSpc>
                <a:spcPts val="5040"/>
              </a:lnSpc>
            </a:pPr>
            <a:endParaRPr lang="en-US" sz="36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22" name="TextBox 22"/>
          <p:cNvSpPr txBox="1"/>
          <p:nvPr/>
        </p:nvSpPr>
        <p:spPr>
          <a:xfrm>
            <a:off x="6973122" y="5571004"/>
            <a:ext cx="4495800" cy="3847207"/>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4</a:t>
            </a:r>
          </a:p>
          <a:p>
            <a:pPr algn="ctr">
              <a:lnSpc>
                <a:spcPts val="5040"/>
              </a:lnSpc>
            </a:pPr>
            <a:endParaRPr lang="en-IN" sz="3600" dirty="0"/>
          </a:p>
          <a:p>
            <a:pPr algn="ctr">
              <a:lnSpc>
                <a:spcPts val="5040"/>
              </a:lnSpc>
            </a:pPr>
            <a:r>
              <a:rPr lang="en-IN" sz="3200" dirty="0"/>
              <a:t>Visual learning support, Secure Firebase Authentication</a:t>
            </a:r>
            <a:endParaRPr lang="en-US" sz="32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23" name="TextBox 23"/>
          <p:cNvSpPr txBox="1"/>
          <p:nvPr/>
        </p:nvSpPr>
        <p:spPr>
          <a:xfrm>
            <a:off x="609601" y="5494171"/>
            <a:ext cx="5529656" cy="6160661"/>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3</a:t>
            </a:r>
          </a:p>
          <a:p>
            <a:pPr lvl="0" eaLnBrk="0" fontAlgn="base" hangingPunct="0">
              <a:spcBef>
                <a:spcPct val="0"/>
              </a:spcBef>
              <a:spcAft>
                <a:spcPct val="0"/>
              </a:spcAft>
            </a:pPr>
            <a:r>
              <a:rPr lang="en-IN" sz="3200" dirty="0"/>
              <a:t>AI chatbot for real-time assistance with</a:t>
            </a:r>
          </a:p>
          <a:p>
            <a:pPr marL="857250" lvl="0" indent="-857250" eaLnBrk="0" fontAlgn="base" hangingPunct="0">
              <a:spcBef>
                <a:spcPct val="0"/>
              </a:spcBef>
              <a:spcAft>
                <a:spcPct val="0"/>
              </a:spcAft>
              <a:buFont typeface="+mj-lt"/>
              <a:buAutoNum type="romanLcPeriod"/>
            </a:pPr>
            <a:r>
              <a:rPr lang="en-US" altLang="en-US" sz="3200" dirty="0">
                <a:latin typeface="+mj-lt"/>
              </a:rPr>
              <a:t>Answer questions</a:t>
            </a:r>
          </a:p>
          <a:p>
            <a:pPr marL="857250" lvl="0" indent="-857250" eaLnBrk="0" fontAlgn="base" hangingPunct="0">
              <a:spcBef>
                <a:spcPct val="0"/>
              </a:spcBef>
              <a:spcAft>
                <a:spcPct val="0"/>
              </a:spcAft>
              <a:buFont typeface="+mj-lt"/>
              <a:buAutoNum type="romanLcPeriod"/>
            </a:pPr>
            <a:r>
              <a:rPr lang="en-US" altLang="en-US" sz="3200" dirty="0">
                <a:latin typeface="+mj-lt"/>
              </a:rPr>
              <a:t>Guide through tasks</a:t>
            </a:r>
          </a:p>
          <a:p>
            <a:pPr marL="857250" lvl="0" indent="-857250" eaLnBrk="0" fontAlgn="base" hangingPunct="0">
              <a:spcBef>
                <a:spcPct val="0"/>
              </a:spcBef>
              <a:spcAft>
                <a:spcPct val="0"/>
              </a:spcAft>
              <a:buFont typeface="+mj-lt"/>
              <a:buAutoNum type="romanLcPeriod"/>
            </a:pPr>
            <a:r>
              <a:rPr lang="en-US" altLang="en-US" sz="3200" dirty="0">
                <a:latin typeface="+mj-lt"/>
              </a:rPr>
              <a:t>Provide reminders</a:t>
            </a:r>
          </a:p>
          <a:p>
            <a:pPr marL="857250" lvl="0" indent="-857250" eaLnBrk="0" fontAlgn="base" hangingPunct="0">
              <a:spcBef>
                <a:spcPct val="0"/>
              </a:spcBef>
              <a:spcAft>
                <a:spcPct val="0"/>
              </a:spcAft>
              <a:buFont typeface="+mj-lt"/>
              <a:buAutoNum type="romanLcPeriod"/>
            </a:pPr>
            <a:r>
              <a:rPr lang="en-US" altLang="en-US" sz="3200" dirty="0">
                <a:latin typeface="+mj-lt"/>
              </a:rPr>
              <a:t>Simplify technical content</a:t>
            </a:r>
          </a:p>
          <a:p>
            <a:pPr algn="ctr">
              <a:lnSpc>
                <a:spcPts val="5040"/>
              </a:lnSpc>
            </a:pPr>
            <a:br>
              <a:rPr lang="en-IN" sz="4400" dirty="0"/>
            </a:br>
            <a:br>
              <a:rPr lang="en-IN" sz="4400" dirty="0"/>
            </a:br>
            <a:endParaRPr lang="en-US" sz="4400" dirty="0">
              <a:solidFill>
                <a:srgbClr val="1A1A1A"/>
              </a:solidFill>
              <a:latin typeface="Poppins"/>
            </a:endParaRPr>
          </a:p>
          <a:p>
            <a:pPr marL="0" lvl="0" indent="0" algn="ctr">
              <a:lnSpc>
                <a:spcPts val="5040"/>
              </a:lnSpc>
            </a:pPr>
            <a:endParaRPr lang="en-US" sz="4200" dirty="0">
              <a:solidFill>
                <a:srgbClr val="1A1A1A"/>
              </a:solidFill>
              <a:latin typeface="Telegraf Bold Bold"/>
            </a:endParaRPr>
          </a:p>
        </p:txBody>
      </p:sp>
      <p:pic>
        <p:nvPicPr>
          <p:cNvPr id="33" name="Picture 32">
            <a:extLst>
              <a:ext uri="{FF2B5EF4-FFF2-40B4-BE49-F238E27FC236}">
                <a16:creationId xmlns:a16="http://schemas.microsoft.com/office/drawing/2014/main" id="{11EB0C43-9C0F-95AB-204D-E78F31DD593B}"/>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34" name="Picture 33">
            <a:extLst>
              <a:ext uri="{FF2B5EF4-FFF2-40B4-BE49-F238E27FC236}">
                <a16:creationId xmlns:a16="http://schemas.microsoft.com/office/drawing/2014/main" id="{508E6E3D-EF56-0DB6-75C4-961ECD827A63}"/>
              </a:ext>
            </a:extLst>
          </p:cNvPr>
          <p:cNvPicPr>
            <a:picLocks noChangeAspect="1"/>
          </p:cNvPicPr>
          <p:nvPr/>
        </p:nvPicPr>
        <p:blipFill>
          <a:blip r:embed="rId3" cstate="print"/>
          <a:stretch>
            <a:fillRect/>
          </a:stretch>
        </p:blipFill>
        <p:spPr>
          <a:xfrm>
            <a:off x="1" y="289561"/>
            <a:ext cx="3200400" cy="846332"/>
          </a:xfrm>
          <a:prstGeom prst="rect">
            <a:avLst/>
          </a:prstGeom>
        </p:spPr>
      </p:pic>
      <p:grpSp>
        <p:nvGrpSpPr>
          <p:cNvPr id="29" name="Group 2">
            <a:extLst>
              <a:ext uri="{FF2B5EF4-FFF2-40B4-BE49-F238E27FC236}">
                <a16:creationId xmlns:a16="http://schemas.microsoft.com/office/drawing/2014/main" id="{44545B59-CF4F-0AB7-972C-FBAC371EE206}"/>
              </a:ext>
            </a:extLst>
          </p:cNvPr>
          <p:cNvGrpSpPr/>
          <p:nvPr/>
        </p:nvGrpSpPr>
        <p:grpSpPr>
          <a:xfrm>
            <a:off x="12096796" y="952501"/>
            <a:ext cx="5689744" cy="4276228"/>
            <a:chOff x="0" y="0"/>
            <a:chExt cx="1432647" cy="1133469"/>
          </a:xfrm>
        </p:grpSpPr>
        <p:sp>
          <p:nvSpPr>
            <p:cNvPr id="30" name="Freeform 3">
              <a:extLst>
                <a:ext uri="{FF2B5EF4-FFF2-40B4-BE49-F238E27FC236}">
                  <a16:creationId xmlns:a16="http://schemas.microsoft.com/office/drawing/2014/main" id="{E95A439D-DAEC-C63E-51CA-FE74D5939F4C}"/>
                </a:ext>
              </a:extLst>
            </p:cNvPr>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31" name="TextBox 4">
              <a:extLst>
                <a:ext uri="{FF2B5EF4-FFF2-40B4-BE49-F238E27FC236}">
                  <a16:creationId xmlns:a16="http://schemas.microsoft.com/office/drawing/2014/main" id="{AF7DFC71-5A5D-51DF-929D-69D9D6B118A1}"/>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32" name="Group 2">
            <a:extLst>
              <a:ext uri="{FF2B5EF4-FFF2-40B4-BE49-F238E27FC236}">
                <a16:creationId xmlns:a16="http://schemas.microsoft.com/office/drawing/2014/main" id="{070AE1A7-B96B-A88E-6F30-94847B16C2A0}"/>
              </a:ext>
            </a:extLst>
          </p:cNvPr>
          <p:cNvGrpSpPr/>
          <p:nvPr/>
        </p:nvGrpSpPr>
        <p:grpSpPr>
          <a:xfrm>
            <a:off x="6442434" y="952500"/>
            <a:ext cx="5329320" cy="4276227"/>
            <a:chOff x="0" y="0"/>
            <a:chExt cx="1432647" cy="1133469"/>
          </a:xfrm>
        </p:grpSpPr>
        <p:sp>
          <p:nvSpPr>
            <p:cNvPr id="35" name="Freeform 3">
              <a:extLst>
                <a:ext uri="{FF2B5EF4-FFF2-40B4-BE49-F238E27FC236}">
                  <a16:creationId xmlns:a16="http://schemas.microsoft.com/office/drawing/2014/main" id="{0EC2046A-CCEA-E25C-B952-A9D517895B16}"/>
                </a:ext>
              </a:extLst>
            </p:cNvPr>
            <p:cNvSpPr/>
            <p:nvPr/>
          </p:nvSpPr>
          <p:spPr>
            <a:xfrm>
              <a:off x="0" y="0"/>
              <a:ext cx="1432647" cy="1133469"/>
            </a:xfrm>
            <a:custGeom>
              <a:avLst/>
              <a:gdLst/>
              <a:ahLst/>
              <a:cxnLst/>
              <a:rect l="l" t="t" r="r" b="b"/>
              <a:pathLst>
                <a:path w="1432647" h="1133469">
                  <a:moveTo>
                    <a:pt x="75652" y="0"/>
                  </a:moveTo>
                  <a:lnTo>
                    <a:pt x="1356995" y="0"/>
                  </a:lnTo>
                  <a:cubicBezTo>
                    <a:pt x="1377059" y="0"/>
                    <a:pt x="1396302" y="7970"/>
                    <a:pt x="1410489" y="22158"/>
                  </a:cubicBezTo>
                  <a:cubicBezTo>
                    <a:pt x="1424677" y="36346"/>
                    <a:pt x="1432647" y="55588"/>
                    <a:pt x="1432647" y="75652"/>
                  </a:cubicBezTo>
                  <a:lnTo>
                    <a:pt x="1432647" y="1057817"/>
                  </a:lnTo>
                  <a:cubicBezTo>
                    <a:pt x="1432647" y="1099598"/>
                    <a:pt x="1398777" y="1133469"/>
                    <a:pt x="1356995" y="1133469"/>
                  </a:cubicBezTo>
                  <a:lnTo>
                    <a:pt x="75652" y="1133469"/>
                  </a:lnTo>
                  <a:cubicBezTo>
                    <a:pt x="33871" y="1133469"/>
                    <a:pt x="0" y="1099598"/>
                    <a:pt x="0" y="1057817"/>
                  </a:cubicBezTo>
                  <a:lnTo>
                    <a:pt x="0" y="75652"/>
                  </a:lnTo>
                  <a:cubicBezTo>
                    <a:pt x="0" y="33871"/>
                    <a:pt x="33871" y="0"/>
                    <a:pt x="75652" y="0"/>
                  </a:cubicBezTo>
                  <a:close/>
                </a:path>
              </a:pathLst>
            </a:custGeom>
            <a:solidFill>
              <a:srgbClr val="DDDDDD"/>
            </a:solidFill>
          </p:spPr>
          <p:txBody>
            <a:bodyPr/>
            <a:lstStyle/>
            <a:p>
              <a:endParaRPr lang="en-IN"/>
            </a:p>
          </p:txBody>
        </p:sp>
        <p:sp>
          <p:nvSpPr>
            <p:cNvPr id="36" name="TextBox 4">
              <a:extLst>
                <a:ext uri="{FF2B5EF4-FFF2-40B4-BE49-F238E27FC236}">
                  <a16:creationId xmlns:a16="http://schemas.microsoft.com/office/drawing/2014/main" id="{9440CBF3-ACC6-C06A-DB62-661493EDF3F4}"/>
                </a:ext>
              </a:extLst>
            </p:cNvPr>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39" name="TextBox 23">
            <a:extLst>
              <a:ext uri="{FF2B5EF4-FFF2-40B4-BE49-F238E27FC236}">
                <a16:creationId xmlns:a16="http://schemas.microsoft.com/office/drawing/2014/main" id="{E7B9A5EC-36BB-0EDE-801D-1BD373E645BC}"/>
              </a:ext>
            </a:extLst>
          </p:cNvPr>
          <p:cNvSpPr txBox="1"/>
          <p:nvPr/>
        </p:nvSpPr>
        <p:spPr>
          <a:xfrm>
            <a:off x="6682247" y="1471890"/>
            <a:ext cx="4823953" cy="3206006"/>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1</a:t>
            </a:r>
          </a:p>
          <a:p>
            <a:pPr lvl="0" algn="ctr">
              <a:lnSpc>
                <a:spcPts val="5040"/>
              </a:lnSpc>
            </a:pPr>
            <a:r>
              <a:rPr lang="en-IN" sz="3200" dirty="0"/>
              <a:t>Simple and intuitive User Interface, Consistent layout and navigation</a:t>
            </a:r>
            <a:endParaRPr lang="en-US" sz="3200" dirty="0">
              <a:solidFill>
                <a:srgbClr val="1A1A1A"/>
              </a:solidFill>
            </a:endParaRPr>
          </a:p>
          <a:p>
            <a:pPr marL="0" lvl="0" indent="0" algn="ctr">
              <a:lnSpc>
                <a:spcPts val="5040"/>
              </a:lnSpc>
            </a:pPr>
            <a:endParaRPr lang="en-US" sz="4200" dirty="0">
              <a:solidFill>
                <a:srgbClr val="1A1A1A"/>
              </a:solidFill>
              <a:latin typeface="Telegraf Bold Bold"/>
            </a:endParaRPr>
          </a:p>
        </p:txBody>
      </p:sp>
      <p:sp>
        <p:nvSpPr>
          <p:cNvPr id="40" name="TextBox 23">
            <a:extLst>
              <a:ext uri="{FF2B5EF4-FFF2-40B4-BE49-F238E27FC236}">
                <a16:creationId xmlns:a16="http://schemas.microsoft.com/office/drawing/2014/main" id="{46A8CBE7-2597-E55D-AFBE-3C8204E87622}"/>
              </a:ext>
            </a:extLst>
          </p:cNvPr>
          <p:cNvSpPr txBox="1"/>
          <p:nvPr/>
        </p:nvSpPr>
        <p:spPr>
          <a:xfrm>
            <a:off x="12125467" y="1594504"/>
            <a:ext cx="5661073" cy="3847207"/>
          </a:xfrm>
          <a:prstGeom prst="rect">
            <a:avLst/>
          </a:prstGeom>
        </p:spPr>
        <p:txBody>
          <a:bodyPr wrap="square" lIns="0" tIns="0" rIns="0" bIns="0" rtlCol="0" anchor="t">
            <a:spAutoFit/>
          </a:bodyPr>
          <a:lstStyle/>
          <a:p>
            <a:pPr marL="0" lvl="0" indent="0" algn="ctr">
              <a:lnSpc>
                <a:spcPts val="5040"/>
              </a:lnSpc>
            </a:pPr>
            <a:r>
              <a:rPr lang="en-US" sz="4200" dirty="0">
                <a:solidFill>
                  <a:srgbClr val="1A1A1A"/>
                </a:solidFill>
                <a:latin typeface="Telegraf Bold Bold"/>
              </a:rPr>
              <a:t>Feature 2</a:t>
            </a:r>
          </a:p>
          <a:p>
            <a:pPr lvl="0" algn="ctr">
              <a:lnSpc>
                <a:spcPts val="5040"/>
              </a:lnSpc>
            </a:pPr>
            <a:r>
              <a:rPr lang="en-US" sz="3200" dirty="0">
                <a:latin typeface="+mj-lt"/>
              </a:rPr>
              <a:t>Screen reader compatibility ensures that users with visual impairments or cognitive challenges</a:t>
            </a:r>
            <a:endParaRPr lang="en-US" sz="3200" dirty="0">
              <a:solidFill>
                <a:srgbClr val="1A1A1A"/>
              </a:solidFill>
              <a:latin typeface="+mj-lt"/>
            </a:endParaRPr>
          </a:p>
          <a:p>
            <a:pPr marL="0" lvl="0" indent="0" algn="ctr">
              <a:lnSpc>
                <a:spcPts val="5040"/>
              </a:lnSpc>
            </a:pPr>
            <a:endParaRPr lang="en-US" sz="4200" dirty="0">
              <a:solidFill>
                <a:srgbClr val="1A1A1A"/>
              </a:solidFill>
              <a:latin typeface="Telegraf Bol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4A349-077B-478C-AA5F-0FC6C918F68B}"/>
              </a:ext>
            </a:extLst>
          </p:cNvPr>
          <p:cNvPicPr>
            <a:picLocks noChangeAspect="1"/>
          </p:cNvPicPr>
          <p:nvPr/>
        </p:nvPicPr>
        <p:blipFill>
          <a:blip r:embed="rId2" cstate="print"/>
          <a:stretch>
            <a:fillRect/>
          </a:stretch>
        </p:blipFill>
        <p:spPr>
          <a:xfrm>
            <a:off x="0" y="-144727"/>
            <a:ext cx="3200400" cy="846332"/>
          </a:xfrm>
          <a:prstGeom prst="rect">
            <a:avLst/>
          </a:prstGeom>
        </p:spPr>
      </p:pic>
      <p:pic>
        <p:nvPicPr>
          <p:cNvPr id="3" name="Picture 2">
            <a:extLst>
              <a:ext uri="{FF2B5EF4-FFF2-40B4-BE49-F238E27FC236}">
                <a16:creationId xmlns:a16="http://schemas.microsoft.com/office/drawing/2014/main" id="{0A800FAB-B0A9-C995-67B5-DFC607CA4A08}"/>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5" name="TextBox 4">
            <a:extLst>
              <a:ext uri="{FF2B5EF4-FFF2-40B4-BE49-F238E27FC236}">
                <a16:creationId xmlns:a16="http://schemas.microsoft.com/office/drawing/2014/main" id="{2978F35A-604F-B91E-A815-1BE31EC525D7}"/>
              </a:ext>
            </a:extLst>
          </p:cNvPr>
          <p:cNvSpPr txBox="1"/>
          <p:nvPr/>
        </p:nvSpPr>
        <p:spPr>
          <a:xfrm>
            <a:off x="1099185" y="1931413"/>
            <a:ext cx="6400800" cy="707886"/>
          </a:xfrm>
          <a:prstGeom prst="rect">
            <a:avLst/>
          </a:prstGeom>
          <a:noFill/>
        </p:spPr>
        <p:txBody>
          <a:bodyPr wrap="square" rtlCol="0">
            <a:spAutoFit/>
          </a:bodyPr>
          <a:lstStyle/>
          <a:p>
            <a:pPr algn="ctr"/>
            <a:r>
              <a:rPr lang="en-IN" sz="4000" b="1" dirty="0"/>
              <a:t>System Architecture</a:t>
            </a:r>
            <a:endParaRPr lang="en-US" sz="4000" b="1" dirty="0">
              <a:latin typeface="Arial Black" pitchFamily="34" charset="0"/>
            </a:endParaRPr>
          </a:p>
        </p:txBody>
      </p:sp>
      <p:sp>
        <p:nvSpPr>
          <p:cNvPr id="4" name="AutoShape 2" descr="Front End and back End [classic] | Creately">
            <a:extLst>
              <a:ext uri="{FF2B5EF4-FFF2-40B4-BE49-F238E27FC236}">
                <a16:creationId xmlns:a16="http://schemas.microsoft.com/office/drawing/2014/main" id="{7C8F9F8F-846D-F92F-19D0-1471BADC06B2}"/>
              </a:ext>
            </a:extLst>
          </p:cNvPr>
          <p:cNvSpPr>
            <a:spLocks noChangeAspect="1" noChangeArrowheads="1"/>
          </p:cNvSpPr>
          <p:nvPr/>
        </p:nvSpPr>
        <p:spPr bwMode="auto">
          <a:xfrm>
            <a:off x="8991600" y="3619500"/>
            <a:ext cx="1676400" cy="167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2" name="Picture 4" descr="Flow diagram showing interaction between Frontend, Node.js Backend, Firebase DB + Authentication, and AI Chatbot Integration">
            <a:extLst>
              <a:ext uri="{FF2B5EF4-FFF2-40B4-BE49-F238E27FC236}">
                <a16:creationId xmlns:a16="http://schemas.microsoft.com/office/drawing/2014/main" id="{BF9AE598-93A2-E8E8-62CE-9F934BC10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59387"/>
            <a:ext cx="9339471" cy="62263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7FB0703-7B63-B007-18E2-4A5E2C2C644A}"/>
              </a:ext>
            </a:extLst>
          </p:cNvPr>
          <p:cNvSpPr txBox="1"/>
          <p:nvPr/>
        </p:nvSpPr>
        <p:spPr>
          <a:xfrm>
            <a:off x="8599170" y="1927949"/>
            <a:ext cx="8229600" cy="8402300"/>
          </a:xfrm>
          <a:prstGeom prst="rect">
            <a:avLst/>
          </a:prstGeom>
          <a:noFill/>
        </p:spPr>
        <p:txBody>
          <a:bodyPr wrap="square" rtlCol="0">
            <a:spAutoFit/>
          </a:bodyPr>
          <a:lstStyle/>
          <a:p>
            <a:pPr marL="457200" indent="-457200">
              <a:buFont typeface="Arial" panose="020B0604020202020204" pitchFamily="34" charset="0"/>
              <a:buChar char="•"/>
            </a:pPr>
            <a:r>
              <a:rPr lang="en-IN" sz="3600" b="1" dirty="0"/>
              <a:t>Title:</a:t>
            </a:r>
            <a:br>
              <a:rPr lang="en-IN" sz="3600" dirty="0"/>
            </a:br>
            <a:r>
              <a:rPr lang="en-IN" sz="3600" dirty="0"/>
              <a:t>Technology Used</a:t>
            </a:r>
          </a:p>
          <a:p>
            <a:endParaRPr lang="en-IN" sz="3600" dirty="0"/>
          </a:p>
          <a:p>
            <a:pPr marL="457200" indent="-457200">
              <a:buFont typeface="Arial" panose="020B0604020202020204" pitchFamily="34" charset="0"/>
              <a:buChar char="•"/>
            </a:pPr>
            <a:r>
              <a:rPr lang="en-IN" sz="3600" b="1" dirty="0"/>
              <a:t>Frontend:</a:t>
            </a:r>
            <a:endParaRPr lang="en-IN" sz="3600" dirty="0"/>
          </a:p>
          <a:p>
            <a:r>
              <a:rPr lang="en-IN" sz="3600" dirty="0"/>
              <a:t>     HTML5, CSS3, JavaScript, React.js</a:t>
            </a:r>
          </a:p>
          <a:p>
            <a:endParaRPr lang="en-IN" sz="3600" dirty="0"/>
          </a:p>
          <a:p>
            <a:pPr marL="457200" indent="-457200">
              <a:buFont typeface="Arial" panose="020B0604020202020204" pitchFamily="34" charset="0"/>
              <a:buChar char="•"/>
            </a:pPr>
            <a:r>
              <a:rPr lang="en-IN" sz="3600" b="1" dirty="0"/>
              <a:t>Backend:</a:t>
            </a:r>
            <a:endParaRPr lang="en-IN" sz="3600" dirty="0"/>
          </a:p>
          <a:p>
            <a:r>
              <a:rPr lang="en-IN" sz="3600" dirty="0"/>
              <a:t>     Node.js (Express.js)</a:t>
            </a:r>
          </a:p>
          <a:p>
            <a:r>
              <a:rPr lang="en-IN" sz="3600" dirty="0"/>
              <a:t>     Firebase (Authentication &amp; Database)</a:t>
            </a:r>
          </a:p>
          <a:p>
            <a:endParaRPr lang="en-IN" sz="3600" dirty="0"/>
          </a:p>
          <a:p>
            <a:pPr marL="457200" indent="-457200">
              <a:buFont typeface="Arial" panose="020B0604020202020204" pitchFamily="34" charset="0"/>
              <a:buChar char="•"/>
            </a:pPr>
            <a:r>
              <a:rPr lang="en-IN" sz="3600" b="1" dirty="0"/>
              <a:t>Other Integrations:</a:t>
            </a:r>
            <a:endParaRPr lang="en-IN" sz="3600" dirty="0"/>
          </a:p>
          <a:p>
            <a:r>
              <a:rPr lang="en-IN" sz="3600" dirty="0"/>
              <a:t>     AI Chatbot for live support</a:t>
            </a:r>
          </a:p>
          <a:p>
            <a:r>
              <a:rPr lang="en-IN" sz="3600" dirty="0"/>
              <a:t>     AREA roles for accessibility</a:t>
            </a:r>
          </a:p>
          <a:p>
            <a:r>
              <a:rPr lang="en-IN" sz="3600" dirty="0"/>
              <a:t>     Responsive Design (mobile-first)</a:t>
            </a:r>
          </a:p>
          <a:p>
            <a:endParaRPr lang="en-IN" sz="3600" dirty="0"/>
          </a:p>
        </p:txBody>
      </p:sp>
      <p:sp>
        <p:nvSpPr>
          <p:cNvPr id="7" name="TextBox 6">
            <a:extLst>
              <a:ext uri="{FF2B5EF4-FFF2-40B4-BE49-F238E27FC236}">
                <a16:creationId xmlns:a16="http://schemas.microsoft.com/office/drawing/2014/main" id="{29A93E3E-B96C-A455-4C8B-DA283588B85C}"/>
              </a:ext>
            </a:extLst>
          </p:cNvPr>
          <p:cNvSpPr txBox="1"/>
          <p:nvPr/>
        </p:nvSpPr>
        <p:spPr>
          <a:xfrm>
            <a:off x="5638800" y="342900"/>
            <a:ext cx="6553200" cy="3170099"/>
          </a:xfrm>
          <a:prstGeom prst="rect">
            <a:avLst/>
          </a:prstGeom>
          <a:noFill/>
        </p:spPr>
        <p:txBody>
          <a:bodyPr wrap="square" rtlCol="0">
            <a:spAutoFit/>
          </a:bodyPr>
          <a:lstStyle/>
          <a:p>
            <a:r>
              <a:rPr lang="en-IN" sz="10000" b="1" dirty="0">
                <a:solidFill>
                  <a:schemeClr val="accent6">
                    <a:lumMod val="60000"/>
                    <a:lumOff val="40000"/>
                  </a:schemeClr>
                </a:solidFill>
              </a:rPr>
              <a:t>Tech </a:t>
            </a:r>
            <a:r>
              <a:rPr lang="en-IN" sz="10000" b="1" dirty="0"/>
              <a:t>Stack</a:t>
            </a:r>
          </a:p>
          <a:p>
            <a:endParaRPr lang="en-IN" sz="10000" dirty="0"/>
          </a:p>
        </p:txBody>
      </p:sp>
    </p:spTree>
    <p:extLst>
      <p:ext uri="{BB962C8B-B14F-4D97-AF65-F5344CB8AC3E}">
        <p14:creationId xmlns:p14="http://schemas.microsoft.com/office/powerpoint/2010/main" val="2210023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028697" y="4181217"/>
            <a:ext cx="5328493" cy="5816222"/>
            <a:chOff x="0" y="0"/>
            <a:chExt cx="1334464" cy="1407416"/>
          </a:xfrm>
        </p:grpSpPr>
        <p:sp>
          <p:nvSpPr>
            <p:cNvPr id="3" name="Freeform 3"/>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6610604" y="4163899"/>
            <a:ext cx="5320208" cy="5816222"/>
            <a:chOff x="0" y="0"/>
            <a:chExt cx="1334464" cy="1407416"/>
          </a:xfrm>
        </p:grpSpPr>
        <p:sp>
          <p:nvSpPr>
            <p:cNvPr id="6" name="Freeform 6"/>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12191746" y="4181217"/>
            <a:ext cx="5066791" cy="5816222"/>
            <a:chOff x="0" y="0"/>
            <a:chExt cx="1334464" cy="1407416"/>
          </a:xfrm>
        </p:grpSpPr>
        <p:sp>
          <p:nvSpPr>
            <p:cNvPr id="9" name="Freeform 9"/>
            <p:cNvSpPr/>
            <p:nvPr/>
          </p:nvSpPr>
          <p:spPr>
            <a:xfrm>
              <a:off x="0" y="0"/>
              <a:ext cx="1334464" cy="1407416"/>
            </a:xfrm>
            <a:custGeom>
              <a:avLst/>
              <a:gdLst/>
              <a:ahLst/>
              <a:cxnLst/>
              <a:rect l="l" t="t" r="r" b="b"/>
              <a:pathLst>
                <a:path w="1334464" h="1407416">
                  <a:moveTo>
                    <a:pt x="77927" y="0"/>
                  </a:moveTo>
                  <a:lnTo>
                    <a:pt x="1256537" y="0"/>
                  </a:lnTo>
                  <a:cubicBezTo>
                    <a:pt x="1277204" y="0"/>
                    <a:pt x="1297025" y="8210"/>
                    <a:pt x="1311639" y="22824"/>
                  </a:cubicBezTo>
                  <a:cubicBezTo>
                    <a:pt x="1326254" y="37438"/>
                    <a:pt x="1334464" y="57259"/>
                    <a:pt x="1334464" y="77927"/>
                  </a:cubicBezTo>
                  <a:lnTo>
                    <a:pt x="1334464" y="1329490"/>
                  </a:lnTo>
                  <a:cubicBezTo>
                    <a:pt x="1334464" y="1350157"/>
                    <a:pt x="1326254" y="1369978"/>
                    <a:pt x="1311639" y="1384592"/>
                  </a:cubicBezTo>
                  <a:cubicBezTo>
                    <a:pt x="1297025" y="1399206"/>
                    <a:pt x="1277204" y="1407416"/>
                    <a:pt x="1256537" y="1407416"/>
                  </a:cubicBezTo>
                  <a:lnTo>
                    <a:pt x="77927" y="1407416"/>
                  </a:lnTo>
                  <a:cubicBezTo>
                    <a:pt x="57259" y="1407416"/>
                    <a:pt x="37438" y="1399206"/>
                    <a:pt x="22824" y="1384592"/>
                  </a:cubicBezTo>
                  <a:cubicBezTo>
                    <a:pt x="8210" y="1369978"/>
                    <a:pt x="0" y="1350157"/>
                    <a:pt x="0" y="1329490"/>
                  </a:cubicBezTo>
                  <a:lnTo>
                    <a:pt x="0" y="77927"/>
                  </a:lnTo>
                  <a:cubicBezTo>
                    <a:pt x="0" y="57259"/>
                    <a:pt x="8210" y="37438"/>
                    <a:pt x="22824" y="22824"/>
                  </a:cubicBezTo>
                  <a:cubicBezTo>
                    <a:pt x="37438" y="8210"/>
                    <a:pt x="57259" y="0"/>
                    <a:pt x="77927" y="0"/>
                  </a:cubicBezTo>
                  <a:close/>
                </a:path>
              </a:pathLst>
            </a:custGeom>
            <a:solidFill>
              <a:srgbClr val="DDDDDD"/>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a:grpSpLocks noChangeAspect="1"/>
          </p:cNvGrpSpPr>
          <p:nvPr/>
        </p:nvGrpSpPr>
        <p:grpSpPr>
          <a:xfrm>
            <a:off x="2102760" y="2227650"/>
            <a:ext cx="2918668" cy="2918668"/>
            <a:chOff x="0" y="0"/>
            <a:chExt cx="6350000" cy="6350000"/>
          </a:xfrm>
          <a:solidFill>
            <a:schemeClr val="accent6">
              <a:lumMod val="40000"/>
              <a:lumOff val="60000"/>
            </a:schemeClr>
          </a:solidFill>
        </p:grpSpPr>
        <p:sp>
          <p:nvSpPr>
            <p:cNvPr id="12" name="Freeform 12"/>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grpSp>
        <p:nvGrpSpPr>
          <p:cNvPr id="13" name="Group 13"/>
          <p:cNvGrpSpPr>
            <a:grpSpLocks noChangeAspect="1"/>
          </p:cNvGrpSpPr>
          <p:nvPr/>
        </p:nvGrpSpPr>
        <p:grpSpPr>
          <a:xfrm>
            <a:off x="7684665" y="2224832"/>
            <a:ext cx="2918668" cy="2918668"/>
            <a:chOff x="0" y="0"/>
            <a:chExt cx="6350000" cy="6350000"/>
          </a:xfrm>
          <a:solidFill>
            <a:schemeClr val="accent6">
              <a:lumMod val="40000"/>
              <a:lumOff val="60000"/>
            </a:schemeClr>
          </a:solidFill>
        </p:grpSpPr>
        <p:sp>
          <p:nvSpPr>
            <p:cNvPr id="14" name="Freeform 14"/>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grpSp>
        <p:nvGrpSpPr>
          <p:cNvPr id="15" name="Group 15"/>
          <p:cNvGrpSpPr>
            <a:grpSpLocks noChangeAspect="1"/>
          </p:cNvGrpSpPr>
          <p:nvPr/>
        </p:nvGrpSpPr>
        <p:grpSpPr>
          <a:xfrm>
            <a:off x="13349523" y="2233900"/>
            <a:ext cx="2918668" cy="2918668"/>
            <a:chOff x="0" y="0"/>
            <a:chExt cx="6350000" cy="6350000"/>
          </a:xfrm>
          <a:solidFill>
            <a:schemeClr val="accent6">
              <a:lumMod val="40000"/>
              <a:lumOff val="60000"/>
            </a:schemeClr>
          </a:solidFill>
        </p:grpSpPr>
        <p:sp>
          <p:nvSpPr>
            <p:cNvPr id="16" name="Freeform 16"/>
            <p:cNvSpPr/>
            <p:nvPr/>
          </p:nvSpPr>
          <p:spPr>
            <a:xfrm>
              <a:off x="0" y="0"/>
              <a:ext cx="6350000" cy="6350000"/>
            </a:xfrm>
            <a:custGeom>
              <a:avLst/>
              <a:gdLst/>
              <a:ahLst/>
              <a:cxnLst/>
              <a:rect l="l" t="t" r="r" b="b"/>
              <a:pathLst>
                <a:path w="6350000" h="6350000">
                  <a:moveTo>
                    <a:pt x="4474210" y="0"/>
                  </a:moveTo>
                  <a:lnTo>
                    <a:pt x="1875790" y="0"/>
                  </a:lnTo>
                  <a:cubicBezTo>
                    <a:pt x="839470" y="0"/>
                    <a:pt x="0" y="839470"/>
                    <a:pt x="0" y="1875790"/>
                  </a:cubicBezTo>
                  <a:lnTo>
                    <a:pt x="0" y="4474210"/>
                  </a:lnTo>
                  <a:cubicBezTo>
                    <a:pt x="0" y="5510530"/>
                    <a:pt x="839470" y="6350000"/>
                    <a:pt x="1875790" y="6350000"/>
                  </a:cubicBezTo>
                  <a:lnTo>
                    <a:pt x="4474210" y="6350000"/>
                  </a:lnTo>
                  <a:cubicBezTo>
                    <a:pt x="5510530" y="6350000"/>
                    <a:pt x="6350000" y="5510530"/>
                    <a:pt x="6350000" y="4474210"/>
                  </a:cubicBezTo>
                  <a:lnTo>
                    <a:pt x="6350000" y="1875790"/>
                  </a:lnTo>
                  <a:cubicBezTo>
                    <a:pt x="6350000" y="839470"/>
                    <a:pt x="5510530" y="0"/>
                    <a:pt x="4474210" y="0"/>
                  </a:cubicBezTo>
                  <a:close/>
                </a:path>
              </a:pathLst>
            </a:custGeom>
            <a:grpFill/>
          </p:spPr>
          <p:txBody>
            <a:bodyPr/>
            <a:lstStyle/>
            <a:p>
              <a:endParaRPr lang="en-IN"/>
            </a:p>
          </p:txBody>
        </p:sp>
      </p:grpSp>
      <p:sp>
        <p:nvSpPr>
          <p:cNvPr id="17" name="TextBox 17"/>
          <p:cNvSpPr txBox="1"/>
          <p:nvPr/>
        </p:nvSpPr>
        <p:spPr>
          <a:xfrm>
            <a:off x="1123948" y="5152568"/>
            <a:ext cx="4876291" cy="1282402"/>
          </a:xfrm>
          <a:prstGeom prst="rect">
            <a:avLst/>
          </a:prstGeom>
        </p:spPr>
        <p:txBody>
          <a:bodyPr wrap="square" lIns="0" tIns="0" rIns="0" bIns="0" rtlCol="0" anchor="t">
            <a:spAutoFit/>
          </a:bodyPr>
          <a:lstStyle/>
          <a:p>
            <a:pPr lvl="0" algn="ctr">
              <a:lnSpc>
                <a:spcPts val="5040"/>
              </a:lnSpc>
            </a:pPr>
            <a:r>
              <a:rPr lang="en-IN" sz="4400" dirty="0"/>
              <a:t>Primary Target </a:t>
            </a:r>
          </a:p>
          <a:p>
            <a:pPr lvl="0" algn="ctr">
              <a:lnSpc>
                <a:spcPts val="5040"/>
              </a:lnSpc>
            </a:pPr>
            <a:r>
              <a:rPr lang="en-IN" sz="4400" dirty="0"/>
              <a:t>Users</a:t>
            </a:r>
            <a:endParaRPr lang="en-US" sz="4200" dirty="0">
              <a:solidFill>
                <a:srgbClr val="1A1A1A"/>
              </a:solidFill>
              <a:latin typeface="Telegraf Bold Bold"/>
            </a:endParaRPr>
          </a:p>
        </p:txBody>
      </p:sp>
      <p:sp>
        <p:nvSpPr>
          <p:cNvPr id="18" name="TextBox 18"/>
          <p:cNvSpPr txBox="1"/>
          <p:nvPr/>
        </p:nvSpPr>
        <p:spPr>
          <a:xfrm>
            <a:off x="1372366" y="6697073"/>
            <a:ext cx="4485960" cy="3052118"/>
          </a:xfrm>
          <a:prstGeom prst="rect">
            <a:avLst/>
          </a:prstGeom>
        </p:spPr>
        <p:txBody>
          <a:bodyPr wrap="square" lIns="0" tIns="0" rIns="0" bIns="0" rtlCol="0" anchor="t">
            <a:spAutoFit/>
          </a:bodyPr>
          <a:lstStyle/>
          <a:p>
            <a:pPr lvl="0" algn="ctr">
              <a:lnSpc>
                <a:spcPts val="3359"/>
              </a:lnSpc>
            </a:pPr>
            <a:r>
              <a:rPr lang="en-IN" sz="3000" dirty="0"/>
              <a:t>Individuals with Cognitive Disabilities, Neurodivergent Users, </a:t>
            </a:r>
            <a:r>
              <a:rPr lang="en-US" sz="3000" dirty="0"/>
              <a:t>Users who may not be formally diagnosed but prefer or require low-stimulation, highly structured digital interfaces.</a:t>
            </a:r>
            <a:endParaRPr lang="en-US" sz="3000" u="none" dirty="0">
              <a:solidFill>
                <a:srgbClr val="1A1A1A"/>
              </a:solidFill>
              <a:latin typeface="Poppins"/>
            </a:endParaRPr>
          </a:p>
        </p:txBody>
      </p:sp>
      <p:sp>
        <p:nvSpPr>
          <p:cNvPr id="19" name="TextBox 19"/>
          <p:cNvSpPr txBox="1"/>
          <p:nvPr/>
        </p:nvSpPr>
        <p:spPr>
          <a:xfrm>
            <a:off x="6676252" y="5111926"/>
            <a:ext cx="4814909" cy="1354217"/>
          </a:xfrm>
          <a:prstGeom prst="rect">
            <a:avLst/>
          </a:prstGeom>
        </p:spPr>
        <p:txBody>
          <a:bodyPr wrap="square" lIns="0" tIns="0" rIns="0" bIns="0" rtlCol="0" anchor="t">
            <a:spAutoFit/>
          </a:bodyPr>
          <a:lstStyle/>
          <a:p>
            <a:pPr algn="ctr"/>
            <a:r>
              <a:rPr lang="en-IN" sz="4400" dirty="0"/>
              <a:t>Secondary Target Users</a:t>
            </a:r>
          </a:p>
        </p:txBody>
      </p:sp>
      <p:sp>
        <p:nvSpPr>
          <p:cNvPr id="20" name="TextBox 20"/>
          <p:cNvSpPr txBox="1"/>
          <p:nvPr/>
        </p:nvSpPr>
        <p:spPr>
          <a:xfrm>
            <a:off x="7096320" y="6702442"/>
            <a:ext cx="3647880" cy="2180084"/>
          </a:xfrm>
          <a:prstGeom prst="rect">
            <a:avLst/>
          </a:prstGeom>
        </p:spPr>
        <p:txBody>
          <a:bodyPr wrap="square" lIns="0" tIns="0" rIns="0" bIns="0" rtlCol="0" anchor="t">
            <a:spAutoFit/>
          </a:bodyPr>
          <a:lstStyle/>
          <a:p>
            <a:pPr algn="ctr">
              <a:lnSpc>
                <a:spcPts val="3359"/>
              </a:lnSpc>
            </a:pPr>
            <a:r>
              <a:rPr lang="en-IN" sz="3000" dirty="0"/>
              <a:t>Parents &amp; Caregivers, Special Educators and Therapists, Nonprofits &amp; Accessibility Advocates</a:t>
            </a:r>
            <a:endParaRPr lang="en-US" sz="3000" dirty="0">
              <a:solidFill>
                <a:srgbClr val="1A1A1A"/>
              </a:solidFill>
              <a:latin typeface="Poppins"/>
            </a:endParaRPr>
          </a:p>
        </p:txBody>
      </p:sp>
      <p:sp>
        <p:nvSpPr>
          <p:cNvPr id="21" name="TextBox 21"/>
          <p:cNvSpPr txBox="1"/>
          <p:nvPr/>
        </p:nvSpPr>
        <p:spPr>
          <a:xfrm>
            <a:off x="12580577" y="5179021"/>
            <a:ext cx="4456560" cy="641201"/>
          </a:xfrm>
          <a:prstGeom prst="rect">
            <a:avLst/>
          </a:prstGeom>
        </p:spPr>
        <p:txBody>
          <a:bodyPr lIns="0" tIns="0" rIns="0" bIns="0" rtlCol="0" anchor="t">
            <a:spAutoFit/>
          </a:bodyPr>
          <a:lstStyle/>
          <a:p>
            <a:pPr marL="0" lvl="0" indent="0" algn="ctr">
              <a:lnSpc>
                <a:spcPts val="5040"/>
              </a:lnSpc>
            </a:pPr>
            <a:r>
              <a:rPr lang="en-US" sz="4200" dirty="0">
                <a:solidFill>
                  <a:srgbClr val="1A1A1A"/>
                </a:solidFill>
                <a:latin typeface="Telegraf Bold Bold"/>
              </a:rPr>
              <a:t>Other Users</a:t>
            </a:r>
          </a:p>
        </p:txBody>
      </p:sp>
      <p:sp>
        <p:nvSpPr>
          <p:cNvPr id="22" name="TextBox 22"/>
          <p:cNvSpPr txBox="1"/>
          <p:nvPr/>
        </p:nvSpPr>
        <p:spPr>
          <a:xfrm>
            <a:off x="12370499" y="6702953"/>
            <a:ext cx="4876716" cy="3042308"/>
          </a:xfrm>
          <a:prstGeom prst="rect">
            <a:avLst/>
          </a:prstGeom>
        </p:spPr>
        <p:txBody>
          <a:bodyPr wrap="square" lIns="0" tIns="0" rIns="0" bIns="0" rtlCol="0" anchor="t">
            <a:spAutoFit/>
          </a:bodyPr>
          <a:lstStyle/>
          <a:p>
            <a:pPr lvl="0" algn="ctr">
              <a:lnSpc>
                <a:spcPts val="3359"/>
              </a:lnSpc>
            </a:pPr>
            <a:r>
              <a:rPr lang="en-IN" sz="3000" dirty="0"/>
              <a:t>Educational Institutions, Government &amp; Public Service Platforms, Mental Health Support Groups, </a:t>
            </a:r>
            <a:r>
              <a:rPr lang="en-US" sz="3000" dirty="0"/>
              <a:t>UX Designers and Accessibility Researchers, International Aid and Relief Organizations</a:t>
            </a:r>
            <a:endParaRPr lang="en-US" sz="3000" dirty="0">
              <a:solidFill>
                <a:srgbClr val="1A1A1A"/>
              </a:solidFill>
              <a:latin typeface="Poppins"/>
            </a:endParaRPr>
          </a:p>
        </p:txBody>
      </p:sp>
      <p:sp>
        <p:nvSpPr>
          <p:cNvPr id="23" name="TextBox 23"/>
          <p:cNvSpPr txBox="1"/>
          <p:nvPr/>
        </p:nvSpPr>
        <p:spPr>
          <a:xfrm>
            <a:off x="2173294" y="544181"/>
            <a:ext cx="13941409" cy="1300356"/>
          </a:xfrm>
          <a:prstGeom prst="rect">
            <a:avLst/>
          </a:prstGeom>
        </p:spPr>
        <p:txBody>
          <a:bodyPr lIns="0" tIns="0" rIns="0" bIns="0" rtlCol="0" anchor="t">
            <a:spAutoFit/>
          </a:bodyPr>
          <a:lstStyle/>
          <a:p>
            <a:pPr marL="0" lvl="0" indent="0" algn="ctr">
              <a:lnSpc>
                <a:spcPts val="9999"/>
              </a:lnSpc>
            </a:pPr>
            <a:r>
              <a:rPr lang="en-US" sz="9999" dirty="0">
                <a:solidFill>
                  <a:srgbClr val="ECA406"/>
                </a:solidFill>
                <a:latin typeface="Telegraf Bold Bold"/>
              </a:rPr>
              <a:t>Target </a:t>
            </a:r>
            <a:r>
              <a:rPr lang="en-US" sz="9999" dirty="0">
                <a:latin typeface="Telegraf Bold Bold"/>
              </a:rPr>
              <a:t>User</a:t>
            </a:r>
          </a:p>
        </p:txBody>
      </p:sp>
      <p:pic>
        <p:nvPicPr>
          <p:cNvPr id="31" name="Picture 30">
            <a:extLst>
              <a:ext uri="{FF2B5EF4-FFF2-40B4-BE49-F238E27FC236}">
                <a16:creationId xmlns:a16="http://schemas.microsoft.com/office/drawing/2014/main" id="{E52A0F97-D058-2B06-EFEA-6A8D9065E3E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32" name="Picture 31">
            <a:extLst>
              <a:ext uri="{FF2B5EF4-FFF2-40B4-BE49-F238E27FC236}">
                <a16:creationId xmlns:a16="http://schemas.microsoft.com/office/drawing/2014/main" id="{8B9A54EF-D7F3-E4D9-5BB1-06589CAEE380}"/>
              </a:ext>
            </a:extLst>
          </p:cNvPr>
          <p:cNvPicPr>
            <a:picLocks noChangeAspect="1"/>
          </p:cNvPicPr>
          <p:nvPr/>
        </p:nvPicPr>
        <p:blipFill>
          <a:blip r:embed="rId3" cstate="print"/>
          <a:stretch>
            <a:fillRect/>
          </a:stretch>
        </p:blipFill>
        <p:spPr>
          <a:xfrm>
            <a:off x="1" y="289561"/>
            <a:ext cx="3200400" cy="846332"/>
          </a:xfrm>
          <a:prstGeom prst="rect">
            <a:avLst/>
          </a:prstGeom>
        </p:spPr>
      </p:pic>
      <p:sp>
        <p:nvSpPr>
          <p:cNvPr id="24" name="TextBox 23">
            <a:extLst>
              <a:ext uri="{FF2B5EF4-FFF2-40B4-BE49-F238E27FC236}">
                <a16:creationId xmlns:a16="http://schemas.microsoft.com/office/drawing/2014/main" id="{3D59B148-F140-C1A8-F4AF-224867A49468}"/>
              </a:ext>
            </a:extLst>
          </p:cNvPr>
          <p:cNvSpPr txBox="1"/>
          <p:nvPr/>
        </p:nvSpPr>
        <p:spPr>
          <a:xfrm>
            <a:off x="8632041" y="3149492"/>
            <a:ext cx="1485645" cy="1015663"/>
          </a:xfrm>
          <a:prstGeom prst="rect">
            <a:avLst/>
          </a:prstGeom>
          <a:noFill/>
        </p:spPr>
        <p:txBody>
          <a:bodyPr wrap="square" rtlCol="0">
            <a:spAutoFit/>
          </a:bodyPr>
          <a:lstStyle/>
          <a:p>
            <a:r>
              <a:rPr lang="en-IN" sz="6000" dirty="0"/>
              <a:t>02</a:t>
            </a:r>
          </a:p>
        </p:txBody>
      </p:sp>
      <p:sp>
        <p:nvSpPr>
          <p:cNvPr id="25" name="TextBox 24">
            <a:extLst>
              <a:ext uri="{FF2B5EF4-FFF2-40B4-BE49-F238E27FC236}">
                <a16:creationId xmlns:a16="http://schemas.microsoft.com/office/drawing/2014/main" id="{1A294D2C-B928-D195-F960-96A5C35DC412}"/>
              </a:ext>
            </a:extLst>
          </p:cNvPr>
          <p:cNvSpPr txBox="1"/>
          <p:nvPr/>
        </p:nvSpPr>
        <p:spPr>
          <a:xfrm>
            <a:off x="3162554" y="3223437"/>
            <a:ext cx="1485645" cy="1015663"/>
          </a:xfrm>
          <a:prstGeom prst="rect">
            <a:avLst/>
          </a:prstGeom>
          <a:noFill/>
        </p:spPr>
        <p:txBody>
          <a:bodyPr wrap="square" rtlCol="0">
            <a:spAutoFit/>
          </a:bodyPr>
          <a:lstStyle/>
          <a:p>
            <a:r>
              <a:rPr lang="en-IN" sz="6000" dirty="0"/>
              <a:t>01</a:t>
            </a:r>
          </a:p>
        </p:txBody>
      </p:sp>
      <p:sp>
        <p:nvSpPr>
          <p:cNvPr id="26" name="TextBox 25">
            <a:extLst>
              <a:ext uri="{FF2B5EF4-FFF2-40B4-BE49-F238E27FC236}">
                <a16:creationId xmlns:a16="http://schemas.microsoft.com/office/drawing/2014/main" id="{C07FE4D2-F8C0-CAC9-39D6-6C20E991B35E}"/>
              </a:ext>
            </a:extLst>
          </p:cNvPr>
          <p:cNvSpPr txBox="1"/>
          <p:nvPr/>
        </p:nvSpPr>
        <p:spPr>
          <a:xfrm>
            <a:off x="14366735" y="3139101"/>
            <a:ext cx="1485645" cy="1015663"/>
          </a:xfrm>
          <a:prstGeom prst="rect">
            <a:avLst/>
          </a:prstGeom>
          <a:noFill/>
        </p:spPr>
        <p:txBody>
          <a:bodyPr wrap="square" rtlCol="0">
            <a:spAutoFit/>
          </a:bodyPr>
          <a:lstStyle/>
          <a:p>
            <a:r>
              <a:rPr lang="en-IN" sz="6000" dirty="0"/>
              <a:t>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Group 5"/>
          <p:cNvGrpSpPr/>
          <p:nvPr/>
        </p:nvGrpSpPr>
        <p:grpSpPr>
          <a:xfrm>
            <a:off x="252791" y="3962517"/>
            <a:ext cx="4337352" cy="5875971"/>
            <a:chOff x="0" y="-38100"/>
            <a:chExt cx="2025441" cy="2253788"/>
          </a:xfrm>
        </p:grpSpPr>
        <p:sp>
          <p:nvSpPr>
            <p:cNvPr id="6" name="Freeform 6"/>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4753044" y="4061850"/>
            <a:ext cx="4193516" cy="6100512"/>
            <a:chOff x="0" y="0"/>
            <a:chExt cx="2025440" cy="2215688"/>
          </a:xfrm>
        </p:grpSpPr>
        <p:sp>
          <p:nvSpPr>
            <p:cNvPr id="9" name="Freeform 9"/>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pPr algn="ctr"/>
              <a:endParaRPr lang="en-IN" dirty="0"/>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9099477" y="4071893"/>
            <a:ext cx="4393205" cy="6018730"/>
            <a:chOff x="0" y="-38100"/>
            <a:chExt cx="2036984" cy="2222117"/>
          </a:xfrm>
        </p:grpSpPr>
        <p:sp>
          <p:nvSpPr>
            <p:cNvPr id="12" name="Freeform 12"/>
            <p:cNvSpPr/>
            <p:nvPr/>
          </p:nvSpPr>
          <p:spPr>
            <a:xfrm>
              <a:off x="11543" y="-31671"/>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13684001" y="3956948"/>
            <a:ext cx="4351208" cy="6100512"/>
            <a:chOff x="0" y="-38100"/>
            <a:chExt cx="2025441" cy="2253788"/>
          </a:xfrm>
        </p:grpSpPr>
        <p:sp>
          <p:nvSpPr>
            <p:cNvPr id="15" name="Freeform 15"/>
            <p:cNvSpPr/>
            <p:nvPr/>
          </p:nvSpPr>
          <p:spPr>
            <a:xfrm>
              <a:off x="0" y="0"/>
              <a:ext cx="2025441" cy="2215688"/>
            </a:xfrm>
            <a:custGeom>
              <a:avLst/>
              <a:gdLst/>
              <a:ahLst/>
              <a:cxnLst/>
              <a:rect l="l" t="t" r="r" b="b"/>
              <a:pathLst>
                <a:path w="2025441" h="2215688">
                  <a:moveTo>
                    <a:pt x="104969" y="0"/>
                  </a:moveTo>
                  <a:lnTo>
                    <a:pt x="1920472" y="0"/>
                  </a:lnTo>
                  <a:cubicBezTo>
                    <a:pt x="1948311" y="0"/>
                    <a:pt x="1975010" y="11059"/>
                    <a:pt x="1994696" y="30745"/>
                  </a:cubicBezTo>
                  <a:cubicBezTo>
                    <a:pt x="2014381" y="50430"/>
                    <a:pt x="2025441" y="77129"/>
                    <a:pt x="2025441" y="104969"/>
                  </a:cubicBezTo>
                  <a:lnTo>
                    <a:pt x="2025441" y="2110719"/>
                  </a:lnTo>
                  <a:cubicBezTo>
                    <a:pt x="2025441" y="2138558"/>
                    <a:pt x="2014381" y="2165258"/>
                    <a:pt x="1994696" y="2184943"/>
                  </a:cubicBezTo>
                  <a:cubicBezTo>
                    <a:pt x="1975010" y="2204628"/>
                    <a:pt x="1948311" y="2215688"/>
                    <a:pt x="1920472" y="2215688"/>
                  </a:cubicBezTo>
                  <a:lnTo>
                    <a:pt x="104969" y="2215688"/>
                  </a:lnTo>
                  <a:cubicBezTo>
                    <a:pt x="77129" y="2215688"/>
                    <a:pt x="50430" y="2204628"/>
                    <a:pt x="30745" y="2184943"/>
                  </a:cubicBezTo>
                  <a:cubicBezTo>
                    <a:pt x="11059" y="2165258"/>
                    <a:pt x="0" y="2138558"/>
                    <a:pt x="0" y="2110719"/>
                  </a:cubicBezTo>
                  <a:lnTo>
                    <a:pt x="0" y="104969"/>
                  </a:lnTo>
                  <a:cubicBezTo>
                    <a:pt x="0" y="77129"/>
                    <a:pt x="11059" y="50430"/>
                    <a:pt x="30745" y="30745"/>
                  </a:cubicBezTo>
                  <a:cubicBezTo>
                    <a:pt x="50430" y="11059"/>
                    <a:pt x="77129" y="0"/>
                    <a:pt x="104969" y="0"/>
                  </a:cubicBezTo>
                  <a:close/>
                </a:path>
              </a:pathLst>
            </a:custGeom>
            <a:solidFill>
              <a:srgbClr val="F5F5F5"/>
            </a:solidFill>
          </p:spPr>
          <p:txBody>
            <a:bodyPr/>
            <a:lstStyle/>
            <a:p>
              <a:endParaRPr lang="en-IN" dirty="0"/>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17" name="Freeform 17"/>
          <p:cNvSpPr/>
          <p:nvPr/>
        </p:nvSpPr>
        <p:spPr>
          <a:xfrm>
            <a:off x="1761413" y="4104950"/>
            <a:ext cx="1218113" cy="1063080"/>
          </a:xfrm>
          <a:custGeom>
            <a:avLst/>
            <a:gdLst/>
            <a:ahLst/>
            <a:cxnLst/>
            <a:rect l="l" t="t" r="r" b="b"/>
            <a:pathLst>
              <a:path w="1218113" h="1063080">
                <a:moveTo>
                  <a:pt x="0" y="0"/>
                </a:moveTo>
                <a:lnTo>
                  <a:pt x="1218112" y="0"/>
                </a:lnTo>
                <a:lnTo>
                  <a:pt x="1218112" y="1063080"/>
                </a:lnTo>
                <a:lnTo>
                  <a:pt x="0" y="1063080"/>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Freeform 18"/>
          <p:cNvSpPr/>
          <p:nvPr/>
        </p:nvSpPr>
        <p:spPr>
          <a:xfrm>
            <a:off x="6309520" y="4112459"/>
            <a:ext cx="856263" cy="1063080"/>
          </a:xfrm>
          <a:custGeom>
            <a:avLst/>
            <a:gdLst/>
            <a:ahLst/>
            <a:cxnLst/>
            <a:rect l="l" t="t" r="r" b="b"/>
            <a:pathLst>
              <a:path w="856263" h="1063080">
                <a:moveTo>
                  <a:pt x="0" y="0"/>
                </a:moveTo>
                <a:lnTo>
                  <a:pt x="856263" y="0"/>
                </a:lnTo>
                <a:lnTo>
                  <a:pt x="856263" y="1063080"/>
                </a:lnTo>
                <a:lnTo>
                  <a:pt x="0" y="1063080"/>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txBody>
          <a:bodyPr/>
          <a:lstStyle/>
          <a:p>
            <a:pPr algn="ctr"/>
            <a:endParaRPr lang="en-IN" dirty="0"/>
          </a:p>
        </p:txBody>
      </p:sp>
      <p:sp>
        <p:nvSpPr>
          <p:cNvPr id="19" name="Freeform 19"/>
          <p:cNvSpPr/>
          <p:nvPr/>
        </p:nvSpPr>
        <p:spPr>
          <a:xfrm>
            <a:off x="10653412" y="4133413"/>
            <a:ext cx="1231803" cy="1063080"/>
          </a:xfrm>
          <a:custGeom>
            <a:avLst/>
            <a:gdLst/>
            <a:ahLst/>
            <a:cxnLst/>
            <a:rect l="l" t="t" r="r" b="b"/>
            <a:pathLst>
              <a:path w="1231803" h="1063080">
                <a:moveTo>
                  <a:pt x="0" y="0"/>
                </a:moveTo>
                <a:lnTo>
                  <a:pt x="1231803" y="0"/>
                </a:lnTo>
                <a:lnTo>
                  <a:pt x="1231803" y="1063080"/>
                </a:lnTo>
                <a:lnTo>
                  <a:pt x="0" y="1063080"/>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0" name="Freeform 20"/>
          <p:cNvSpPr/>
          <p:nvPr/>
        </p:nvSpPr>
        <p:spPr>
          <a:xfrm>
            <a:off x="15404334" y="4104950"/>
            <a:ext cx="1122253" cy="1063080"/>
          </a:xfrm>
          <a:custGeom>
            <a:avLst/>
            <a:gdLst/>
            <a:ahLst/>
            <a:cxnLst/>
            <a:rect l="l" t="t" r="r" b="b"/>
            <a:pathLst>
              <a:path w="1122253" h="1063080">
                <a:moveTo>
                  <a:pt x="0" y="0"/>
                </a:moveTo>
                <a:lnTo>
                  <a:pt x="1122254" y="0"/>
                </a:lnTo>
                <a:lnTo>
                  <a:pt x="1122254" y="1063080"/>
                </a:lnTo>
                <a:lnTo>
                  <a:pt x="0" y="1063080"/>
                </a:lnTo>
                <a:lnTo>
                  <a:pt x="0" y="0"/>
                </a:lnTo>
                <a:close/>
              </a:path>
            </a:pathLst>
          </a:custGeom>
          <a:blipFill>
            <a:blip r:embed="rId8" cstate="print">
              <a:extLst>
                <a:ext uri="{96DAC541-7B7A-43D3-8B79-37D633B846F1}">
                  <asvg:svgBlip xmlns:asvg="http://schemas.microsoft.com/office/drawing/2016/SVG/main" r:embed="rId9"/>
                </a:ext>
              </a:extLst>
            </a:blip>
            <a:stretch>
              <a:fillRect/>
            </a:stretch>
          </a:blipFill>
        </p:spPr>
        <p:txBody>
          <a:bodyPr/>
          <a:lstStyle/>
          <a:p>
            <a:endParaRPr lang="en-IN"/>
          </a:p>
        </p:txBody>
      </p:sp>
      <p:sp>
        <p:nvSpPr>
          <p:cNvPr id="22" name="TextBox 22"/>
          <p:cNvSpPr txBox="1"/>
          <p:nvPr/>
        </p:nvSpPr>
        <p:spPr>
          <a:xfrm>
            <a:off x="3200401" y="2065033"/>
            <a:ext cx="11648402" cy="1107996"/>
          </a:xfrm>
          <a:prstGeom prst="rect">
            <a:avLst/>
          </a:prstGeom>
        </p:spPr>
        <p:txBody>
          <a:bodyPr wrap="square"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Competitive</a:t>
            </a:r>
            <a:r>
              <a:rPr lang="en-US" sz="8000" dirty="0">
                <a:solidFill>
                  <a:srgbClr val="1A1A1A"/>
                </a:solidFill>
                <a:latin typeface="Telegraf Bold Bold"/>
              </a:rPr>
              <a:t> </a:t>
            </a:r>
            <a:r>
              <a:rPr lang="en-US" sz="10000" dirty="0">
                <a:solidFill>
                  <a:srgbClr val="1A1A1A"/>
                </a:solidFill>
                <a:latin typeface="Telegraf Bold Bold"/>
              </a:rPr>
              <a:t>Analysis</a:t>
            </a:r>
            <a:r>
              <a:rPr lang="en-US" sz="8000" dirty="0">
                <a:solidFill>
                  <a:srgbClr val="1A1A1A"/>
                </a:solidFill>
                <a:latin typeface="Telegraf Bold Bold"/>
              </a:rPr>
              <a:t> </a:t>
            </a:r>
          </a:p>
        </p:txBody>
      </p:sp>
      <p:sp>
        <p:nvSpPr>
          <p:cNvPr id="23" name="TextBox 23"/>
          <p:cNvSpPr txBox="1"/>
          <p:nvPr/>
        </p:nvSpPr>
        <p:spPr>
          <a:xfrm>
            <a:off x="911896" y="5275510"/>
            <a:ext cx="2934067" cy="4781950"/>
          </a:xfrm>
          <a:prstGeom prst="rect">
            <a:avLst/>
          </a:prstGeom>
        </p:spPr>
        <p:txBody>
          <a:bodyPr wrap="square" lIns="0" tIns="0" rIns="0" bIns="0" rtlCol="0" anchor="t">
            <a:spAutoFit/>
          </a:bodyPr>
          <a:lstStyle/>
          <a:p>
            <a:pPr lvl="0" algn="ctr">
              <a:lnSpc>
                <a:spcPts val="3359"/>
              </a:lnSpc>
            </a:pPr>
            <a:r>
              <a:rPr lang="en-US" sz="2800" dirty="0">
                <a:solidFill>
                  <a:srgbClr val="202124"/>
                </a:solidFill>
                <a:latin typeface="Arial" panose="020B0604020202020204" pitchFamily="34" charset="0"/>
              </a:rPr>
              <a:t>Our Competitors are </a:t>
            </a:r>
            <a:r>
              <a:rPr lang="en-US" sz="2800" dirty="0"/>
              <a:t>LearningRx, Brighton Center, </a:t>
            </a:r>
            <a:r>
              <a:rPr lang="en-US" sz="2800" dirty="0" err="1"/>
              <a:t>Easterseals</a:t>
            </a:r>
            <a:r>
              <a:rPr lang="en-US" sz="2800" dirty="0"/>
              <a:t>, NIEPID, World Disability Union and some small companies provides the different services for cognitive disable persons.</a:t>
            </a:r>
            <a:endParaRPr lang="en-US" sz="2800" dirty="0">
              <a:latin typeface="+mj-lt"/>
            </a:endParaRPr>
          </a:p>
        </p:txBody>
      </p:sp>
      <p:sp>
        <p:nvSpPr>
          <p:cNvPr id="24" name="TextBox 24"/>
          <p:cNvSpPr txBox="1"/>
          <p:nvPr/>
        </p:nvSpPr>
        <p:spPr>
          <a:xfrm>
            <a:off x="5375599" y="5581859"/>
            <a:ext cx="2772822" cy="3877985"/>
          </a:xfrm>
          <a:prstGeom prst="rect">
            <a:avLst/>
          </a:prstGeom>
        </p:spPr>
        <p:txBody>
          <a:bodyPr wrap="square" lIns="0" tIns="0" rIns="0" bIns="0" rtlCol="0" anchor="t">
            <a:spAutoFit/>
          </a:bodyPr>
          <a:lstStyle/>
          <a:p>
            <a:pPr algn="ctr"/>
            <a:r>
              <a:rPr lang="en-US" sz="2800" dirty="0" err="1"/>
              <a:t>Prihub</a:t>
            </a:r>
            <a:r>
              <a:rPr lang="en-US" sz="2800" dirty="0"/>
              <a:t> uniquely combines assistive AI, visual walkthroughs, and end-to-end full-stack design focused entirely on cognitive disability accessibility.</a:t>
            </a:r>
          </a:p>
        </p:txBody>
      </p:sp>
      <p:sp>
        <p:nvSpPr>
          <p:cNvPr id="26" name="TextBox 26"/>
          <p:cNvSpPr txBox="1"/>
          <p:nvPr/>
        </p:nvSpPr>
        <p:spPr>
          <a:xfrm>
            <a:off x="13793133" y="5350864"/>
            <a:ext cx="4132944" cy="4739759"/>
          </a:xfrm>
          <a:prstGeom prst="rect">
            <a:avLst/>
          </a:prstGeom>
        </p:spPr>
        <p:txBody>
          <a:bodyPr wrap="square" lIns="0" tIns="0" rIns="0" bIns="0" rtlCol="0" anchor="t">
            <a:spAutoFit/>
          </a:bodyPr>
          <a:lstStyle/>
          <a:p>
            <a:pPr algn="ctr"/>
            <a:r>
              <a:rPr lang="en-US" sz="2800" dirty="0" err="1"/>
              <a:t>Prihub</a:t>
            </a:r>
            <a:r>
              <a:rPr lang="en-US" sz="2800" dirty="0"/>
              <a:t> taps into the $3–4B global cognitive accessibility market through freemium services, institutional licensing, NGO/government funding, and strategic partnerships—targeting a ₹25–50 crore annual revenue opportunity across regions like India, US, Europe, and Southeast Asia.</a:t>
            </a:r>
            <a:endParaRPr lang="en-US" sz="2800" b="0" i="0" dirty="0">
              <a:solidFill>
                <a:srgbClr val="202124"/>
              </a:solidFill>
              <a:effectLst/>
              <a:latin typeface="Arial" panose="020B0604020202020204" pitchFamily="34" charset="0"/>
            </a:endParaRPr>
          </a:p>
        </p:txBody>
      </p:sp>
      <p:sp>
        <p:nvSpPr>
          <p:cNvPr id="34" name="TextBox 24">
            <a:extLst>
              <a:ext uri="{FF2B5EF4-FFF2-40B4-BE49-F238E27FC236}">
                <a16:creationId xmlns:a16="http://schemas.microsoft.com/office/drawing/2014/main" id="{C194B701-F52D-2F92-171B-045C96F0FCA8}"/>
              </a:ext>
            </a:extLst>
          </p:cNvPr>
          <p:cNvSpPr txBox="1"/>
          <p:nvPr/>
        </p:nvSpPr>
        <p:spPr>
          <a:xfrm>
            <a:off x="9085978" y="5458287"/>
            <a:ext cx="4267287" cy="4781950"/>
          </a:xfrm>
          <a:prstGeom prst="rect">
            <a:avLst/>
          </a:prstGeom>
        </p:spPr>
        <p:txBody>
          <a:bodyPr wrap="square" lIns="0" tIns="0" rIns="0" bIns="0" rtlCol="0" anchor="t">
            <a:spAutoFit/>
          </a:bodyPr>
          <a:lstStyle/>
          <a:p>
            <a:pPr lvl="0" algn="ctr">
              <a:lnSpc>
                <a:spcPts val="3359"/>
              </a:lnSpc>
            </a:pPr>
            <a:r>
              <a:rPr lang="en-US" sz="2800" u="none" dirty="0">
                <a:solidFill>
                  <a:srgbClr val="202124"/>
                </a:solidFill>
                <a:latin typeface="+mj-lt"/>
              </a:rPr>
              <a:t> Key </a:t>
            </a:r>
            <a:r>
              <a:rPr lang="en-US" sz="2800" dirty="0">
                <a:solidFill>
                  <a:srgbClr val="202124"/>
                </a:solidFill>
                <a:latin typeface="+mj-lt"/>
              </a:rPr>
              <a:t>F</a:t>
            </a:r>
            <a:r>
              <a:rPr lang="en-US" sz="2800" u="none" dirty="0">
                <a:solidFill>
                  <a:srgbClr val="202124"/>
                </a:solidFill>
                <a:latin typeface="+mj-lt"/>
              </a:rPr>
              <a:t>eatures - </a:t>
            </a:r>
            <a:r>
              <a:rPr lang="en-IN" sz="2800" dirty="0">
                <a:latin typeface="+mj-lt"/>
              </a:rPr>
              <a:t>Adaptive Step Progression, Visual Cue Highlighting, Context-Aware Help Trigger, Integrated Chatbot Support, Multimodal Guidance, Progress Tracking Bar, Instant Replay Option, Distraction-Free Mode, Feedback &amp; Reinforcement, Language Simplification Engine.</a:t>
            </a:r>
            <a:endParaRPr lang="en-US" sz="2800" u="none" dirty="0">
              <a:solidFill>
                <a:srgbClr val="1A1A1A"/>
              </a:solidFill>
              <a:latin typeface="+mj-lt"/>
            </a:endParaRPr>
          </a:p>
        </p:txBody>
      </p:sp>
      <p:pic>
        <p:nvPicPr>
          <p:cNvPr id="39" name="Picture 38">
            <a:extLst>
              <a:ext uri="{FF2B5EF4-FFF2-40B4-BE49-F238E27FC236}">
                <a16:creationId xmlns:a16="http://schemas.microsoft.com/office/drawing/2014/main" id="{566EEA50-2321-CF8E-6A07-C15FD3F98D00}"/>
              </a:ext>
            </a:extLst>
          </p:cNvPr>
          <p:cNvPicPr>
            <a:picLocks noChangeAspect="1"/>
          </p:cNvPicPr>
          <p:nvPr/>
        </p:nvPicPr>
        <p:blipFill>
          <a:blip r:embed="rId10" cstate="print"/>
          <a:stretch>
            <a:fillRect/>
          </a:stretch>
        </p:blipFill>
        <p:spPr>
          <a:xfrm>
            <a:off x="15369540" y="0"/>
            <a:ext cx="2918460" cy="1060031"/>
          </a:xfrm>
          <a:prstGeom prst="rect">
            <a:avLst/>
          </a:prstGeom>
        </p:spPr>
      </p:pic>
      <p:pic>
        <p:nvPicPr>
          <p:cNvPr id="40" name="Picture 39">
            <a:extLst>
              <a:ext uri="{FF2B5EF4-FFF2-40B4-BE49-F238E27FC236}">
                <a16:creationId xmlns:a16="http://schemas.microsoft.com/office/drawing/2014/main" id="{9AD790DA-A536-7C79-A8B1-C38D434B4C94}"/>
              </a:ext>
            </a:extLst>
          </p:cNvPr>
          <p:cNvPicPr>
            <a:picLocks noChangeAspect="1"/>
          </p:cNvPicPr>
          <p:nvPr/>
        </p:nvPicPr>
        <p:blipFill>
          <a:blip r:embed="rId11" cstate="print"/>
          <a:stretch>
            <a:fillRect/>
          </a:stretch>
        </p:blipFill>
        <p:spPr>
          <a:xfrm>
            <a:off x="1" y="289561"/>
            <a:ext cx="3200400" cy="846332"/>
          </a:xfrm>
          <a:prstGeom prst="rect">
            <a:avLst/>
          </a:prstGeom>
        </p:spPr>
      </p:pic>
      <p:sp>
        <p:nvSpPr>
          <p:cNvPr id="21" name="AutoShape 2" descr="HelpGuide.org">
            <a:extLst>
              <a:ext uri="{FF2B5EF4-FFF2-40B4-BE49-F238E27FC236}">
                <a16:creationId xmlns:a16="http://schemas.microsoft.com/office/drawing/2014/main" id="{7F4478B8-4120-CA4A-B77D-5DD66458E18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0760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txBox="1"/>
          <p:nvPr/>
        </p:nvSpPr>
        <p:spPr>
          <a:xfrm>
            <a:off x="4038600" y="1404806"/>
            <a:ext cx="10326192" cy="665567"/>
          </a:xfrm>
          <a:prstGeom prst="rect">
            <a:avLst/>
          </a:prstGeom>
        </p:spPr>
        <p:txBody>
          <a:bodyPr wrap="square" lIns="0" tIns="0" rIns="0" bIns="0" rtlCol="0" anchor="t">
            <a:spAutoFit/>
          </a:bodyPr>
          <a:lstStyle/>
          <a:p>
            <a:pPr marL="0" lvl="0" indent="0">
              <a:lnSpc>
                <a:spcPts val="3359"/>
              </a:lnSpc>
            </a:pPr>
            <a:r>
              <a:rPr lang="en-US" sz="10000" b="1" dirty="0">
                <a:solidFill>
                  <a:schemeClr val="accent6">
                    <a:lumMod val="60000"/>
                    <a:lumOff val="40000"/>
                  </a:schemeClr>
                </a:solidFill>
                <a:cs typeface="Times New Roman" panose="02020603050405020304" pitchFamily="18" charset="0"/>
              </a:rPr>
              <a:t>Working</a:t>
            </a:r>
            <a:r>
              <a:rPr lang="en-US" sz="10000" b="1" dirty="0">
                <a:solidFill>
                  <a:srgbClr val="1A1A1A"/>
                </a:solidFill>
                <a:cs typeface="Times New Roman" panose="02020603050405020304" pitchFamily="18" charset="0"/>
              </a:rPr>
              <a:t> of Team</a:t>
            </a:r>
          </a:p>
        </p:txBody>
      </p:sp>
      <p:pic>
        <p:nvPicPr>
          <p:cNvPr id="9" name="Picture 8">
            <a:extLst>
              <a:ext uri="{FF2B5EF4-FFF2-40B4-BE49-F238E27FC236}">
                <a16:creationId xmlns:a16="http://schemas.microsoft.com/office/drawing/2014/main" id="{29B5C62E-169E-9EA6-9663-530E28078A5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0" name="Picture 9">
            <a:extLst>
              <a:ext uri="{FF2B5EF4-FFF2-40B4-BE49-F238E27FC236}">
                <a16:creationId xmlns:a16="http://schemas.microsoft.com/office/drawing/2014/main" id="{25CF75BC-2B6C-51D1-0E99-D099755ECC49}"/>
              </a:ext>
            </a:extLst>
          </p:cNvPr>
          <p:cNvPicPr>
            <a:picLocks noChangeAspect="1"/>
          </p:cNvPicPr>
          <p:nvPr/>
        </p:nvPicPr>
        <p:blipFill>
          <a:blip r:embed="rId3" cstate="print"/>
          <a:stretch>
            <a:fillRect/>
          </a:stretch>
        </p:blipFill>
        <p:spPr>
          <a:xfrm>
            <a:off x="1" y="289561"/>
            <a:ext cx="3200400" cy="846332"/>
          </a:xfrm>
          <a:prstGeom prst="rect">
            <a:avLst/>
          </a:prstGeom>
        </p:spPr>
      </p:pic>
      <p:sp>
        <p:nvSpPr>
          <p:cNvPr id="11" name="Rectangle 10"/>
          <p:cNvSpPr/>
          <p:nvPr/>
        </p:nvSpPr>
        <p:spPr>
          <a:xfrm>
            <a:off x="1285820" y="4267618"/>
            <a:ext cx="12430180" cy="584775"/>
          </a:xfrm>
          <a:prstGeom prst="rect">
            <a:avLst/>
          </a:prstGeom>
        </p:spPr>
        <p:txBody>
          <a:bodyPr wrap="square">
            <a:spAutoFit/>
          </a:bodyPr>
          <a:lstStyle/>
          <a:p>
            <a:pPr fontAlgn="auto">
              <a:spcBef>
                <a:spcPts val="0"/>
              </a:spcBef>
              <a:spcAft>
                <a:spcPts val="0"/>
              </a:spcAft>
              <a:defRPr/>
            </a:pPr>
            <a:endParaRPr lang="en-IN" sz="3200" dirty="0">
              <a:solidFill>
                <a:schemeClr val="bg2">
                  <a:lumMod val="25000"/>
                </a:schemeClr>
              </a:solidFill>
              <a:latin typeface="Lucida Sans" pitchFamily="34" charset="0"/>
            </a:endParaRPr>
          </a:p>
        </p:txBody>
      </p:sp>
      <p:pic>
        <p:nvPicPr>
          <p:cNvPr id="3" name="Picture 2">
            <a:extLst>
              <a:ext uri="{FF2B5EF4-FFF2-40B4-BE49-F238E27FC236}">
                <a16:creationId xmlns:a16="http://schemas.microsoft.com/office/drawing/2014/main" id="{6AA9A512-4B4B-A72B-262B-C670CAA2BB1E}"/>
              </a:ext>
            </a:extLst>
          </p:cNvPr>
          <p:cNvPicPr>
            <a:picLocks noChangeAspect="1"/>
          </p:cNvPicPr>
          <p:nvPr/>
        </p:nvPicPr>
        <p:blipFill>
          <a:blip r:embed="rId4"/>
          <a:stretch>
            <a:fillRect/>
          </a:stretch>
        </p:blipFill>
        <p:spPr>
          <a:xfrm>
            <a:off x="0" y="2095500"/>
            <a:ext cx="17983200" cy="7772400"/>
          </a:xfrm>
          <a:prstGeom prst="rect">
            <a:avLst/>
          </a:prstGeom>
        </p:spPr>
      </p:pic>
    </p:spTree>
    <p:extLst>
      <p:ext uri="{BB962C8B-B14F-4D97-AF65-F5344CB8AC3E}">
        <p14:creationId xmlns:p14="http://schemas.microsoft.com/office/powerpoint/2010/main" val="3230420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CC702C-B11D-DEE4-A30B-241BAEA8CD98}"/>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5B291A69-7772-F89F-DBAC-AF5CC5D8A159}"/>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10" name="TextBox 9">
            <a:extLst>
              <a:ext uri="{FF2B5EF4-FFF2-40B4-BE49-F238E27FC236}">
                <a16:creationId xmlns:a16="http://schemas.microsoft.com/office/drawing/2014/main" id="{8746525F-942D-5987-01F5-544E7E34E6A2}"/>
              </a:ext>
            </a:extLst>
          </p:cNvPr>
          <p:cNvSpPr txBox="1"/>
          <p:nvPr/>
        </p:nvSpPr>
        <p:spPr>
          <a:xfrm>
            <a:off x="1028699" y="1371955"/>
            <a:ext cx="16230602" cy="1200329"/>
          </a:xfrm>
          <a:prstGeom prst="rect">
            <a:avLst/>
          </a:prstGeom>
          <a:noFill/>
        </p:spPr>
        <p:txBody>
          <a:bodyPr wrap="square">
            <a:spAutoFit/>
          </a:bodyPr>
          <a:lstStyle/>
          <a:p>
            <a:pPr marL="0" lvl="0" indent="0" algn="ctr">
              <a:lnSpc>
                <a:spcPts val="8000"/>
              </a:lnSpc>
            </a:pPr>
            <a:r>
              <a:rPr lang="en-US" sz="10000" dirty="0">
                <a:solidFill>
                  <a:schemeClr val="accent6">
                    <a:lumMod val="60000"/>
                    <a:lumOff val="40000"/>
                  </a:schemeClr>
                </a:solidFill>
                <a:latin typeface="Telegraf Bold Bold"/>
              </a:rPr>
              <a:t>Survey </a:t>
            </a:r>
            <a:r>
              <a:rPr lang="en-US" sz="10000" dirty="0">
                <a:latin typeface="Telegraf Bold Bold"/>
              </a:rPr>
              <a:t>Analysis</a:t>
            </a:r>
            <a:r>
              <a:rPr lang="en-US" sz="10000" dirty="0">
                <a:solidFill>
                  <a:schemeClr val="accent6">
                    <a:lumMod val="60000"/>
                    <a:lumOff val="40000"/>
                  </a:schemeClr>
                </a:solidFill>
                <a:latin typeface="Telegraf Bold Bold"/>
              </a:rPr>
              <a:t> </a:t>
            </a:r>
          </a:p>
        </p:txBody>
      </p:sp>
      <p:sp>
        <p:nvSpPr>
          <p:cNvPr id="11" name="TextBox 10">
            <a:extLst>
              <a:ext uri="{FF2B5EF4-FFF2-40B4-BE49-F238E27FC236}">
                <a16:creationId xmlns:a16="http://schemas.microsoft.com/office/drawing/2014/main" id="{B54611D1-7D53-0FCF-419C-F86C755D5392}"/>
              </a:ext>
            </a:extLst>
          </p:cNvPr>
          <p:cNvSpPr txBox="1"/>
          <p:nvPr/>
        </p:nvSpPr>
        <p:spPr>
          <a:xfrm>
            <a:off x="7398738" y="4526955"/>
            <a:ext cx="4023382" cy="400110"/>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elegraf Bold Bold" panose="020B0604020202020204" charset="0"/>
              </a:rPr>
              <a:t>User Response analysis</a:t>
            </a:r>
            <a:endParaRPr lang="en-IN" sz="2000" b="1" dirty="0">
              <a:latin typeface="Telegraf Bold Bold" panose="020B0604020202020204" charset="0"/>
            </a:endParaRPr>
          </a:p>
        </p:txBody>
      </p:sp>
      <p:pic>
        <p:nvPicPr>
          <p:cNvPr id="14" name="Picture 13">
            <a:extLst>
              <a:ext uri="{FF2B5EF4-FFF2-40B4-BE49-F238E27FC236}">
                <a16:creationId xmlns:a16="http://schemas.microsoft.com/office/drawing/2014/main" id="{6149ECF5-BE50-EAA0-A7A1-E0A506CAA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321" y="3699213"/>
            <a:ext cx="6134956" cy="5906324"/>
          </a:xfrm>
          <a:prstGeom prst="rect">
            <a:avLst/>
          </a:prstGeom>
        </p:spPr>
      </p:pic>
      <p:pic>
        <p:nvPicPr>
          <p:cNvPr id="17" name="Picture 16">
            <a:extLst>
              <a:ext uri="{FF2B5EF4-FFF2-40B4-BE49-F238E27FC236}">
                <a16:creationId xmlns:a16="http://schemas.microsoft.com/office/drawing/2014/main" id="{0DCCB257-2E9D-913F-FE42-D390DCE634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089" y="3237966"/>
            <a:ext cx="11183911" cy="6868484"/>
          </a:xfrm>
          <a:prstGeom prst="rect">
            <a:avLst/>
          </a:prstGeom>
        </p:spPr>
      </p:pic>
    </p:spTree>
    <p:extLst>
      <p:ext uri="{BB962C8B-B14F-4D97-AF65-F5344CB8AC3E}">
        <p14:creationId xmlns:p14="http://schemas.microsoft.com/office/powerpoint/2010/main" val="1221356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7B9833-2E93-2CFD-68D3-2359F5EA7DE0}"/>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7416FC96-3BAB-FB9B-0114-EBBDFB0BAE54}"/>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16" name="Picture 15">
            <a:extLst>
              <a:ext uri="{FF2B5EF4-FFF2-40B4-BE49-F238E27FC236}">
                <a16:creationId xmlns:a16="http://schemas.microsoft.com/office/drawing/2014/main" id="{A6E5E976-2BA8-7918-43E9-EBA776DDCB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38300"/>
            <a:ext cx="9109613" cy="8341820"/>
          </a:xfrm>
          <a:prstGeom prst="rect">
            <a:avLst/>
          </a:prstGeom>
        </p:spPr>
      </p:pic>
      <p:pic>
        <p:nvPicPr>
          <p:cNvPr id="5" name="Picture 4">
            <a:extLst>
              <a:ext uri="{FF2B5EF4-FFF2-40B4-BE49-F238E27FC236}">
                <a16:creationId xmlns:a16="http://schemas.microsoft.com/office/drawing/2014/main" id="{D812A556-AED5-8F8D-EFD0-C519F586BA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599" y="1638300"/>
            <a:ext cx="9296401" cy="8341821"/>
          </a:xfrm>
          <a:prstGeom prst="rect">
            <a:avLst/>
          </a:prstGeom>
        </p:spPr>
      </p:pic>
    </p:spTree>
    <p:extLst>
      <p:ext uri="{BB962C8B-B14F-4D97-AF65-F5344CB8AC3E}">
        <p14:creationId xmlns:p14="http://schemas.microsoft.com/office/powerpoint/2010/main" val="3293215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BEF278-0498-C738-EA78-572D79AC055D}"/>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AD42EE70-0385-1706-4207-918895A42553}"/>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5" name="Picture 4">
            <a:extLst>
              <a:ext uri="{FF2B5EF4-FFF2-40B4-BE49-F238E27FC236}">
                <a16:creationId xmlns:a16="http://schemas.microsoft.com/office/drawing/2014/main" id="{679AD030-FDE8-77ED-B7C1-ECD2CB6284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1" y="2187695"/>
            <a:ext cx="9390624" cy="6415463"/>
          </a:xfrm>
          <a:prstGeom prst="rect">
            <a:avLst/>
          </a:prstGeom>
        </p:spPr>
      </p:pic>
      <p:pic>
        <p:nvPicPr>
          <p:cNvPr id="9" name="Picture 8">
            <a:extLst>
              <a:ext uri="{FF2B5EF4-FFF2-40B4-BE49-F238E27FC236}">
                <a16:creationId xmlns:a16="http://schemas.microsoft.com/office/drawing/2014/main" id="{78826352-A535-C576-F30A-036855426E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01611" y="2461837"/>
            <a:ext cx="9107171" cy="6415463"/>
          </a:xfrm>
          <a:prstGeom prst="rect">
            <a:avLst/>
          </a:prstGeom>
        </p:spPr>
      </p:pic>
    </p:spTree>
    <p:extLst>
      <p:ext uri="{BB962C8B-B14F-4D97-AF65-F5344CB8AC3E}">
        <p14:creationId xmlns:p14="http://schemas.microsoft.com/office/powerpoint/2010/main" val="661563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C73C0C-29F9-4382-BF5A-8DC9966269A9}"/>
              </a:ext>
            </a:extLst>
          </p:cNvPr>
          <p:cNvPicPr>
            <a:picLocks noChangeAspect="1"/>
          </p:cNvPicPr>
          <p:nvPr/>
        </p:nvPicPr>
        <p:blipFill>
          <a:blip r:embed="rId2" cstate="print"/>
          <a:stretch>
            <a:fillRect/>
          </a:stretch>
        </p:blipFill>
        <p:spPr>
          <a:xfrm>
            <a:off x="0" y="23224"/>
            <a:ext cx="3200400" cy="846332"/>
          </a:xfrm>
          <a:prstGeom prst="rect">
            <a:avLst/>
          </a:prstGeom>
        </p:spPr>
      </p:pic>
      <p:pic>
        <p:nvPicPr>
          <p:cNvPr id="3" name="Picture 2">
            <a:extLst>
              <a:ext uri="{FF2B5EF4-FFF2-40B4-BE49-F238E27FC236}">
                <a16:creationId xmlns:a16="http://schemas.microsoft.com/office/drawing/2014/main" id="{90F4B808-B720-EE15-2645-1D9CCC2E2FA5}"/>
              </a:ext>
            </a:extLst>
          </p:cNvPr>
          <p:cNvPicPr>
            <a:picLocks noChangeAspect="1"/>
          </p:cNvPicPr>
          <p:nvPr/>
        </p:nvPicPr>
        <p:blipFill>
          <a:blip r:embed="rId3" cstate="print"/>
          <a:stretch>
            <a:fillRect/>
          </a:stretch>
        </p:blipFill>
        <p:spPr>
          <a:xfrm>
            <a:off x="15369540" y="0"/>
            <a:ext cx="2918460" cy="1060031"/>
          </a:xfrm>
          <a:prstGeom prst="rect">
            <a:avLst/>
          </a:prstGeom>
        </p:spPr>
      </p:pic>
      <p:pic>
        <p:nvPicPr>
          <p:cNvPr id="8" name="Picture 7">
            <a:extLst>
              <a:ext uri="{FF2B5EF4-FFF2-40B4-BE49-F238E27FC236}">
                <a16:creationId xmlns:a16="http://schemas.microsoft.com/office/drawing/2014/main" id="{A8F6A90B-DB4C-C040-FF2D-FD8749B0EC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11000" y="1049640"/>
            <a:ext cx="6477000" cy="4830727"/>
          </a:xfrm>
          <a:prstGeom prst="rect">
            <a:avLst/>
          </a:prstGeom>
        </p:spPr>
      </p:pic>
      <p:pic>
        <p:nvPicPr>
          <p:cNvPr id="12" name="Picture 11">
            <a:extLst>
              <a:ext uri="{FF2B5EF4-FFF2-40B4-BE49-F238E27FC236}">
                <a16:creationId xmlns:a16="http://schemas.microsoft.com/office/drawing/2014/main" id="{CD1F9C12-F723-A282-E38B-3D694DAA0E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7800" y="4965117"/>
            <a:ext cx="6934201" cy="5232856"/>
          </a:xfrm>
          <a:prstGeom prst="rect">
            <a:avLst/>
          </a:prstGeom>
        </p:spPr>
      </p:pic>
      <p:pic>
        <p:nvPicPr>
          <p:cNvPr id="14" name="Picture 13">
            <a:extLst>
              <a:ext uri="{FF2B5EF4-FFF2-40B4-BE49-F238E27FC236}">
                <a16:creationId xmlns:a16="http://schemas.microsoft.com/office/drawing/2014/main" id="{0EE3A66B-3A59-5CBC-4624-188BF08C37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855" y="1282243"/>
            <a:ext cx="5847559" cy="5232857"/>
          </a:xfrm>
          <a:prstGeom prst="rect">
            <a:avLst/>
          </a:prstGeom>
        </p:spPr>
      </p:pic>
    </p:spTree>
    <p:extLst>
      <p:ext uri="{BB962C8B-B14F-4D97-AF65-F5344CB8AC3E}">
        <p14:creationId xmlns:p14="http://schemas.microsoft.com/office/powerpoint/2010/main" val="4193167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txBox="1"/>
          <p:nvPr/>
        </p:nvSpPr>
        <p:spPr>
          <a:xfrm>
            <a:off x="105737" y="2552700"/>
            <a:ext cx="16429663" cy="6976269"/>
          </a:xfrm>
          <a:prstGeom prst="rect">
            <a:avLst/>
          </a:prstGeom>
        </p:spPr>
        <p:txBody>
          <a:bodyPr wrap="square" lIns="0" tIns="0" rIns="0" bIns="0" rtlCol="0" anchor="t">
            <a:spAutoFit/>
          </a:bodyPr>
          <a:lstStyle/>
          <a:p>
            <a:pPr marL="1371600" lvl="2" indent="-457200" algn="just">
              <a:lnSpc>
                <a:spcPts val="3359"/>
              </a:lnSpc>
              <a:buFont typeface="Arial" panose="020B0604020202020204" pitchFamily="34" charset="0"/>
              <a:buChar char="•"/>
            </a:pPr>
            <a:r>
              <a:rPr lang="en-US" sz="3000" b="1" i="0" u="sng" dirty="0">
                <a:solidFill>
                  <a:srgbClr val="374151"/>
                </a:solidFill>
                <a:effectLst/>
                <a:latin typeface="+mj-lt"/>
              </a:rPr>
              <a:t>Subscription Plans:</a:t>
            </a:r>
            <a:r>
              <a:rPr lang="en-US" sz="3000" b="1" i="0" dirty="0">
                <a:solidFill>
                  <a:srgbClr val="374151"/>
                </a:solidFill>
                <a:effectLst/>
                <a:latin typeface="+mj-lt"/>
              </a:rPr>
              <a:t> </a:t>
            </a:r>
            <a:r>
              <a:rPr lang="en-US" sz="2800" dirty="0" err="1"/>
              <a:t>Prihub</a:t>
            </a:r>
            <a:r>
              <a:rPr lang="en-US" sz="2800" dirty="0"/>
              <a:t> offers tiered subscription plans with increasing features and support levels—from a low-cost basic access tier encouraging community contributions, to enhanced support and premium personalized tiers including caregiver/family plans. This provides stable recurring revenue while keeping the platform affordable and accessible.</a:t>
            </a:r>
          </a:p>
          <a:p>
            <a:pPr marL="1371600" lvl="2" indent="-457200" algn="just">
              <a:lnSpc>
                <a:spcPts val="3359"/>
              </a:lnSpc>
              <a:buFont typeface="Arial" panose="020B0604020202020204" pitchFamily="34" charset="0"/>
              <a:buChar char="•"/>
            </a:pPr>
            <a:endParaRPr lang="en-US" sz="3000" b="1" u="sng" dirty="0">
              <a:solidFill>
                <a:srgbClr val="374151"/>
              </a:solidFill>
              <a:latin typeface="Arial" panose="020B0604020202020204" pitchFamily="34" charset="0"/>
            </a:endParaRPr>
          </a:p>
          <a:p>
            <a:pPr marL="1371600" lvl="2" indent="-457200" algn="just">
              <a:lnSpc>
                <a:spcPts val="3359"/>
              </a:lnSpc>
              <a:buFont typeface="Arial" panose="020B0604020202020204" pitchFamily="34" charset="0"/>
              <a:buChar char="•"/>
            </a:pPr>
            <a:r>
              <a:rPr lang="en-US" sz="3000" b="1" i="0" u="sng" dirty="0">
                <a:solidFill>
                  <a:srgbClr val="374151"/>
                </a:solidFill>
                <a:effectLst/>
                <a:latin typeface="+mj-lt"/>
              </a:rPr>
              <a:t>Value-Added Services:</a:t>
            </a:r>
            <a:r>
              <a:rPr lang="en-US" sz="3000" b="0" i="0" dirty="0">
                <a:solidFill>
                  <a:srgbClr val="374151"/>
                </a:solidFill>
                <a:effectLst/>
                <a:latin typeface="+mj-lt"/>
              </a:rPr>
              <a:t> </a:t>
            </a:r>
            <a:r>
              <a:rPr lang="en-US" sz="2800" dirty="0"/>
              <a:t>Certain advanced AI chatbot services or specialized content modules are billed based on usage via "Contextual Clarity Units," which charge users proportionally to how much complex information is simplified for them. This keeps pricing transparent and aligned with delivered value.</a:t>
            </a:r>
            <a:endParaRPr lang="en-US" sz="2800" b="0" i="0" dirty="0">
              <a:solidFill>
                <a:srgbClr val="374151"/>
              </a:solidFill>
              <a:effectLst/>
              <a:latin typeface="Arial" panose="020B0604020202020204" pitchFamily="34" charset="0"/>
            </a:endParaRPr>
          </a:p>
          <a:p>
            <a:pPr marL="1371600" lvl="2" indent="-457200" algn="just">
              <a:lnSpc>
                <a:spcPts val="3359"/>
              </a:lnSpc>
              <a:buFont typeface="Arial" panose="020B0604020202020204" pitchFamily="34" charset="0"/>
              <a:buChar char="•"/>
            </a:pPr>
            <a:endParaRPr lang="en-US" sz="3000" dirty="0">
              <a:solidFill>
                <a:srgbClr val="374151"/>
              </a:solidFill>
              <a:latin typeface="Arial" panose="020B0604020202020204" pitchFamily="34" charset="0"/>
            </a:endParaRPr>
          </a:p>
          <a:p>
            <a:pPr marL="1371600" lvl="2" indent="-457200" algn="just">
              <a:lnSpc>
                <a:spcPts val="3359"/>
              </a:lnSpc>
              <a:buFont typeface="Arial" panose="020B0604020202020204" pitchFamily="34" charset="0"/>
              <a:buChar char="•"/>
            </a:pPr>
            <a:r>
              <a:rPr lang="en-US" sz="3000" b="1" u="sng" dirty="0"/>
              <a:t>Institutional Licensing:</a:t>
            </a:r>
            <a:r>
              <a:rPr lang="en-US" sz="3000" b="1" dirty="0"/>
              <a:t> </a:t>
            </a:r>
            <a:r>
              <a:rPr lang="en-US" sz="2800" dirty="0" err="1"/>
              <a:t>Prihub</a:t>
            </a:r>
            <a:r>
              <a:rPr lang="en-US" sz="2800" dirty="0"/>
              <a:t> partners with schools, care centers, and therapy organizations by offering bulk or customized licenses bundled with staff training and anonymized insights to improve institutional support, generating revenue trough B2B sales beyond individual users.</a:t>
            </a:r>
          </a:p>
          <a:p>
            <a:pPr marL="1371600" lvl="2" indent="-457200" algn="just">
              <a:lnSpc>
                <a:spcPts val="3359"/>
              </a:lnSpc>
              <a:buFont typeface="Arial" panose="020B0604020202020204" pitchFamily="34" charset="0"/>
              <a:buChar char="•"/>
            </a:pPr>
            <a:endParaRPr lang="en-US" sz="3000" dirty="0"/>
          </a:p>
          <a:p>
            <a:pPr marL="1371600" lvl="2" indent="-457200" algn="just">
              <a:lnSpc>
                <a:spcPts val="3359"/>
              </a:lnSpc>
              <a:buFont typeface="Arial" panose="020B0604020202020204" pitchFamily="34" charset="0"/>
              <a:buChar char="•"/>
            </a:pPr>
            <a:r>
              <a:rPr lang="en-US" sz="3000" b="1" u="sng" dirty="0"/>
              <a:t>Donations and Grants:</a:t>
            </a:r>
            <a:r>
              <a:rPr lang="en-US" sz="3000" b="1" dirty="0"/>
              <a:t> </a:t>
            </a:r>
            <a:r>
              <a:rPr lang="en-US" sz="2800" dirty="0"/>
              <a:t>Leveraging its social impact mission, </a:t>
            </a:r>
            <a:r>
              <a:rPr lang="en-US" sz="2800" dirty="0" err="1"/>
              <a:t>Prihub</a:t>
            </a:r>
            <a:r>
              <a:rPr lang="en-US" sz="2800" dirty="0"/>
              <a:t> invites philanthropic donations and grant funding, including sponsor programs for subsidizing access to users in need, supplementing revenue and advancing accessibility goals.</a:t>
            </a:r>
          </a:p>
        </p:txBody>
      </p:sp>
      <p:sp>
        <p:nvSpPr>
          <p:cNvPr id="39" name="TextBox 39"/>
          <p:cNvSpPr txBox="1"/>
          <p:nvPr/>
        </p:nvSpPr>
        <p:spPr>
          <a:xfrm>
            <a:off x="3235036" y="1297385"/>
            <a:ext cx="11648401" cy="1107996"/>
          </a:xfrm>
          <a:prstGeom prst="rect">
            <a:avLst/>
          </a:prstGeom>
        </p:spPr>
        <p:txBody>
          <a:bodyPr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Revenue </a:t>
            </a:r>
            <a:r>
              <a:rPr lang="en-US" sz="10000" dirty="0">
                <a:latin typeface="Telegraf Bold Bold"/>
              </a:rPr>
              <a:t>Model</a:t>
            </a:r>
          </a:p>
        </p:txBody>
      </p:sp>
      <p:pic>
        <p:nvPicPr>
          <p:cNvPr id="12" name="Picture 11">
            <a:extLst>
              <a:ext uri="{FF2B5EF4-FFF2-40B4-BE49-F238E27FC236}">
                <a16:creationId xmlns:a16="http://schemas.microsoft.com/office/drawing/2014/main" id="{823A0084-6288-8A94-A4C0-E38715C7BA9A}"/>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3" name="Picture 12">
            <a:extLst>
              <a:ext uri="{FF2B5EF4-FFF2-40B4-BE49-F238E27FC236}">
                <a16:creationId xmlns:a16="http://schemas.microsoft.com/office/drawing/2014/main" id="{C14CC1BB-231D-7599-7A59-EF0CAF0D3707}"/>
              </a:ext>
            </a:extLst>
          </p:cNvPr>
          <p:cNvPicPr>
            <a:picLocks noChangeAspect="1"/>
          </p:cNvPicPr>
          <p:nvPr/>
        </p:nvPicPr>
        <p:blipFill>
          <a:blip r:embed="rId3" cstate="print"/>
          <a:stretch>
            <a:fillRect/>
          </a:stretch>
        </p:blipFill>
        <p:spPr>
          <a:xfrm>
            <a:off x="1" y="289561"/>
            <a:ext cx="3200400" cy="846332"/>
          </a:xfrm>
          <a:prstGeom prst="rect">
            <a:avLst/>
          </a:prstGeom>
        </p:spPr>
      </p:pic>
    </p:spTree>
    <p:extLst>
      <p:ext uri="{BB962C8B-B14F-4D97-AF65-F5344CB8AC3E}">
        <p14:creationId xmlns:p14="http://schemas.microsoft.com/office/powerpoint/2010/main" val="229672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TextBox 39"/>
          <p:cNvSpPr txBox="1"/>
          <p:nvPr/>
        </p:nvSpPr>
        <p:spPr>
          <a:xfrm>
            <a:off x="3319799" y="712727"/>
            <a:ext cx="11648401" cy="1107996"/>
          </a:xfrm>
          <a:prstGeom prst="rect">
            <a:avLst/>
          </a:prstGeom>
        </p:spPr>
        <p:txBody>
          <a:bodyPr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Financial</a:t>
            </a:r>
            <a:r>
              <a:rPr lang="en-US" sz="10000" dirty="0">
                <a:solidFill>
                  <a:srgbClr val="ECA406"/>
                </a:solidFill>
                <a:latin typeface="Telegraf Bold Bold"/>
              </a:rPr>
              <a:t> </a:t>
            </a:r>
            <a:r>
              <a:rPr lang="en-US" sz="10000" dirty="0">
                <a:latin typeface="Telegraf Bold Bold"/>
              </a:rPr>
              <a:t>Assessment </a:t>
            </a:r>
          </a:p>
        </p:txBody>
      </p:sp>
      <p:pic>
        <p:nvPicPr>
          <p:cNvPr id="9" name="Picture 8">
            <a:extLst>
              <a:ext uri="{FF2B5EF4-FFF2-40B4-BE49-F238E27FC236}">
                <a16:creationId xmlns:a16="http://schemas.microsoft.com/office/drawing/2014/main" id="{29B5C62E-169E-9EA6-9663-530E28078A5E}"/>
              </a:ext>
            </a:extLst>
          </p:cNvPr>
          <p:cNvPicPr>
            <a:picLocks noChangeAspect="1"/>
          </p:cNvPicPr>
          <p:nvPr/>
        </p:nvPicPr>
        <p:blipFill>
          <a:blip r:embed="rId2" cstate="print"/>
          <a:stretch>
            <a:fillRect/>
          </a:stretch>
        </p:blipFill>
        <p:spPr>
          <a:xfrm>
            <a:off x="15369540" y="0"/>
            <a:ext cx="2918460" cy="1060031"/>
          </a:xfrm>
          <a:prstGeom prst="rect">
            <a:avLst/>
          </a:prstGeom>
        </p:spPr>
      </p:pic>
      <p:pic>
        <p:nvPicPr>
          <p:cNvPr id="10" name="Picture 9">
            <a:extLst>
              <a:ext uri="{FF2B5EF4-FFF2-40B4-BE49-F238E27FC236}">
                <a16:creationId xmlns:a16="http://schemas.microsoft.com/office/drawing/2014/main" id="{25CF75BC-2B6C-51D1-0E99-D099755ECC49}"/>
              </a:ext>
            </a:extLst>
          </p:cNvPr>
          <p:cNvPicPr>
            <a:picLocks noChangeAspect="1"/>
          </p:cNvPicPr>
          <p:nvPr/>
        </p:nvPicPr>
        <p:blipFill>
          <a:blip r:embed="rId3" cstate="print"/>
          <a:stretch>
            <a:fillRect/>
          </a:stretch>
        </p:blipFill>
        <p:spPr>
          <a:xfrm>
            <a:off x="1" y="289561"/>
            <a:ext cx="3200400" cy="846332"/>
          </a:xfrm>
          <a:prstGeom prst="rect">
            <a:avLst/>
          </a:prstGeom>
        </p:spPr>
      </p:pic>
      <p:graphicFrame>
        <p:nvGraphicFramePr>
          <p:cNvPr id="5" name="Table 4">
            <a:extLst>
              <a:ext uri="{FF2B5EF4-FFF2-40B4-BE49-F238E27FC236}">
                <a16:creationId xmlns:a16="http://schemas.microsoft.com/office/drawing/2014/main" id="{18469123-EBEA-4DF0-349E-82F7F86F993E}"/>
              </a:ext>
            </a:extLst>
          </p:cNvPr>
          <p:cNvGraphicFramePr>
            <a:graphicFrameLocks noGrp="1"/>
          </p:cNvGraphicFramePr>
          <p:nvPr>
            <p:extLst>
              <p:ext uri="{D42A27DB-BD31-4B8C-83A1-F6EECF244321}">
                <p14:modId xmlns:p14="http://schemas.microsoft.com/office/powerpoint/2010/main" val="4143944275"/>
              </p:ext>
            </p:extLst>
          </p:nvPr>
        </p:nvGraphicFramePr>
        <p:xfrm>
          <a:off x="122046" y="1810332"/>
          <a:ext cx="11648400" cy="8385638"/>
        </p:xfrm>
        <a:graphic>
          <a:graphicData uri="http://schemas.openxmlformats.org/drawingml/2006/table">
            <a:tbl>
              <a:tblPr/>
              <a:tblGrid>
                <a:gridCol w="2912100">
                  <a:extLst>
                    <a:ext uri="{9D8B030D-6E8A-4147-A177-3AD203B41FA5}">
                      <a16:colId xmlns:a16="http://schemas.microsoft.com/office/drawing/2014/main" val="2693720754"/>
                    </a:ext>
                  </a:extLst>
                </a:gridCol>
                <a:gridCol w="2912100">
                  <a:extLst>
                    <a:ext uri="{9D8B030D-6E8A-4147-A177-3AD203B41FA5}">
                      <a16:colId xmlns:a16="http://schemas.microsoft.com/office/drawing/2014/main" val="2136338396"/>
                    </a:ext>
                  </a:extLst>
                </a:gridCol>
                <a:gridCol w="2912100">
                  <a:extLst>
                    <a:ext uri="{9D8B030D-6E8A-4147-A177-3AD203B41FA5}">
                      <a16:colId xmlns:a16="http://schemas.microsoft.com/office/drawing/2014/main" val="3162019928"/>
                    </a:ext>
                  </a:extLst>
                </a:gridCol>
                <a:gridCol w="2912100">
                  <a:extLst>
                    <a:ext uri="{9D8B030D-6E8A-4147-A177-3AD203B41FA5}">
                      <a16:colId xmlns:a16="http://schemas.microsoft.com/office/drawing/2014/main" val="3633341748"/>
                    </a:ext>
                  </a:extLst>
                </a:gridCol>
              </a:tblGrid>
              <a:tr h="542983">
                <a:tc>
                  <a:txBody>
                    <a:bodyPr/>
                    <a:lstStyle/>
                    <a:p>
                      <a:pPr algn="l" fontAlgn="t" latinLnBrk="0">
                        <a:buNone/>
                      </a:pPr>
                      <a:r>
                        <a:rPr lang="en-IN" sz="2600" b="0">
                          <a:solidFill>
                            <a:srgbClr val="FF0000"/>
                          </a:solidFill>
                          <a:effectLst/>
                        </a:rPr>
                        <a:t>Revenue Source</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dirty="0">
                          <a:solidFill>
                            <a:srgbClr val="FF0000"/>
                          </a:solidFill>
                          <a:effectLst/>
                        </a:rPr>
                        <a:t>Calculation</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a:solidFill>
                            <a:srgbClr val="FF0000"/>
                          </a:solidFill>
                          <a:effectLst/>
                        </a:rPr>
                        <a:t>Amount (₹)</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tc>
                  <a:txBody>
                    <a:bodyPr/>
                    <a:lstStyle/>
                    <a:p>
                      <a:pPr algn="l" fontAlgn="t" latinLnBrk="0">
                        <a:buNone/>
                      </a:pPr>
                      <a:r>
                        <a:rPr lang="en-IN" sz="2600" b="0" dirty="0">
                          <a:solidFill>
                            <a:srgbClr val="FF0000"/>
                          </a:solidFill>
                          <a:effectLst/>
                        </a:rPr>
                        <a:t>% of Total Revenue</a:t>
                      </a:r>
                    </a:p>
                  </a:txBody>
                  <a:tcPr marL="31322" marR="31322" marT="31322" marB="31322">
                    <a:lnL>
                      <a:noFill/>
                    </a:lnL>
                    <a:lnR>
                      <a:noFill/>
                    </a:lnR>
                    <a:lnT>
                      <a:noFill/>
                    </a:lnT>
                    <a:lnB w="12700" cap="flat" cmpd="sng" algn="ctr">
                      <a:solidFill>
                        <a:srgbClr val="B0BD30"/>
                      </a:solidFill>
                      <a:prstDash val="solid"/>
                      <a:round/>
                      <a:headEnd type="none" w="med" len="med"/>
                      <a:tailEnd type="none" w="med" len="med"/>
                    </a:lnB>
                    <a:noFill/>
                  </a:tcPr>
                </a:tc>
                <a:extLst>
                  <a:ext uri="{0D108BD9-81ED-4DB2-BD59-A6C34878D82A}">
                    <a16:rowId xmlns:a16="http://schemas.microsoft.com/office/drawing/2014/main" val="3677736217"/>
                  </a:ext>
                </a:extLst>
              </a:tr>
              <a:tr h="915185">
                <a:tc>
                  <a:txBody>
                    <a:bodyPr/>
                    <a:lstStyle/>
                    <a:p>
                      <a:pPr fontAlgn="base" latinLnBrk="0">
                        <a:buNone/>
                      </a:pPr>
                      <a:r>
                        <a:rPr lang="en-IN" sz="2600" dirty="0">
                          <a:effectLst/>
                        </a:rPr>
                        <a:t>Service Charges (Gross)</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1,000 × ₹400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4,00,000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tc>
                  <a:txBody>
                    <a:bodyPr/>
                    <a:lstStyle/>
                    <a:p>
                      <a:pPr fontAlgn="base" latinLnBrk="0">
                        <a:buNone/>
                      </a:pPr>
                      <a:r>
                        <a:rPr lang="en-IN" sz="2600">
                          <a:effectLst/>
                        </a:rPr>
                        <a:t>100%</a:t>
                      </a:r>
                    </a:p>
                  </a:txBody>
                  <a:tcPr marL="31322" marR="31322" marT="23491" marB="23491" anchor="ctr">
                    <a:lnL w="12700" cap="flat" cmpd="sng" algn="ctr">
                      <a:solidFill>
                        <a:srgbClr val="B0BD30"/>
                      </a:solidFill>
                      <a:prstDash val="solid"/>
                      <a:round/>
                      <a:headEnd type="none" w="med" len="med"/>
                      <a:tailEnd type="none" w="med" len="med"/>
                    </a:lnL>
                    <a:lnR w="12700" cap="flat" cmpd="sng" algn="ctr">
                      <a:solidFill>
                        <a:srgbClr val="B0BD30"/>
                      </a:solidFill>
                      <a:prstDash val="solid"/>
                      <a:round/>
                      <a:headEnd type="none" w="med" len="med"/>
                      <a:tailEnd type="none" w="med" len="med"/>
                    </a:lnR>
                    <a:lnT w="12700" cap="flat" cmpd="sng" algn="ctr">
                      <a:solidFill>
                        <a:srgbClr val="B0BD30"/>
                      </a:solidFill>
                      <a:prstDash val="solid"/>
                      <a:round/>
                      <a:headEnd type="none" w="med" len="med"/>
                      <a:tailEnd type="none" w="med" len="med"/>
                    </a:lnT>
                    <a:lnB w="12700" cap="flat" cmpd="sng" algn="ctr">
                      <a:solidFill>
                        <a:srgbClr val="B0BC30"/>
                      </a:solidFill>
                      <a:prstDash val="solid"/>
                      <a:round/>
                      <a:headEnd type="none" w="med" len="med"/>
                      <a:tailEnd type="none" w="med" len="med"/>
                    </a:lnB>
                    <a:noFill/>
                  </a:tcPr>
                </a:tc>
                <a:extLst>
                  <a:ext uri="{0D108BD9-81ED-4DB2-BD59-A6C34878D82A}">
                    <a16:rowId xmlns:a16="http://schemas.microsoft.com/office/drawing/2014/main" val="2813489649"/>
                  </a:ext>
                </a:extLst>
              </a:tr>
              <a:tr h="915185">
                <a:tc>
                  <a:txBody>
                    <a:bodyPr/>
                    <a:lstStyle/>
                    <a:p>
                      <a:pPr fontAlgn="base" latinLnBrk="0">
                        <a:buNone/>
                      </a:pPr>
                      <a:r>
                        <a:rPr lang="en-IN" sz="2600">
                          <a:effectLst/>
                        </a:rPr>
                        <a:t>Vendor Registration Fee</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a:effectLst/>
                        </a:rPr>
                        <a:t>100 × ₹500</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dirty="0">
                          <a:effectLst/>
                        </a:rPr>
                        <a:t>50,000</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tc>
                  <a:txBody>
                    <a:bodyPr/>
                    <a:lstStyle/>
                    <a:p>
                      <a:pPr fontAlgn="base" latinLnBrk="0">
                        <a:buNone/>
                      </a:pPr>
                      <a:r>
                        <a:rPr lang="en-IN" sz="2600">
                          <a:effectLst/>
                        </a:rPr>
                        <a:t>12.5%</a:t>
                      </a:r>
                    </a:p>
                  </a:txBody>
                  <a:tcPr marL="31322" marR="31322" marT="23491" marB="23491" anchor="ctr">
                    <a:lnL w="12700" cap="flat" cmpd="sng" algn="ctr">
                      <a:solidFill>
                        <a:srgbClr val="B0BC30"/>
                      </a:solidFill>
                      <a:prstDash val="solid"/>
                      <a:round/>
                      <a:headEnd type="none" w="med" len="med"/>
                      <a:tailEnd type="none" w="med" len="med"/>
                    </a:lnL>
                    <a:lnR w="12700" cap="flat" cmpd="sng" algn="ctr">
                      <a:solidFill>
                        <a:srgbClr val="B0BC30"/>
                      </a:solidFill>
                      <a:prstDash val="solid"/>
                      <a:round/>
                      <a:headEnd type="none" w="med" len="med"/>
                      <a:tailEnd type="none" w="med" len="med"/>
                    </a:lnR>
                    <a:lnT w="12700" cap="flat" cmpd="sng" algn="ctr">
                      <a:solidFill>
                        <a:srgbClr val="B0BC30"/>
                      </a:solidFill>
                      <a:prstDash val="solid"/>
                      <a:round/>
                      <a:headEnd type="none" w="med" len="med"/>
                      <a:tailEnd type="none" w="med" len="med"/>
                    </a:lnT>
                    <a:lnB w="12700" cap="flat" cmpd="sng" algn="ctr">
                      <a:solidFill>
                        <a:srgbClr val="B0C830"/>
                      </a:solidFill>
                      <a:prstDash val="solid"/>
                      <a:round/>
                      <a:headEnd type="none" w="med" len="med"/>
                      <a:tailEnd type="none" w="med" len="med"/>
                    </a:lnB>
                    <a:noFill/>
                  </a:tcPr>
                </a:tc>
                <a:extLst>
                  <a:ext uri="{0D108BD9-81ED-4DB2-BD59-A6C34878D82A}">
                    <a16:rowId xmlns:a16="http://schemas.microsoft.com/office/drawing/2014/main" val="2360214908"/>
                  </a:ext>
                </a:extLst>
              </a:tr>
              <a:tr h="915185">
                <a:tc>
                  <a:txBody>
                    <a:bodyPr/>
                    <a:lstStyle/>
                    <a:p>
                      <a:pPr fontAlgn="base" latinLnBrk="0">
                        <a:buNone/>
                      </a:pPr>
                      <a:r>
                        <a:rPr lang="en-IN" sz="2600">
                          <a:effectLst/>
                        </a:rPr>
                        <a:t>Training Fee</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dirty="0">
                          <a:effectLst/>
                        </a:rPr>
                        <a:t>20 vendors × ₹1,500</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a:effectLst/>
                        </a:rPr>
                        <a:t>30,000</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tc>
                  <a:txBody>
                    <a:bodyPr/>
                    <a:lstStyle/>
                    <a:p>
                      <a:pPr fontAlgn="base" latinLnBrk="0">
                        <a:buNone/>
                      </a:pPr>
                      <a:r>
                        <a:rPr lang="en-IN" sz="2600">
                          <a:effectLst/>
                        </a:rPr>
                        <a:t>7.5%</a:t>
                      </a:r>
                    </a:p>
                  </a:txBody>
                  <a:tcPr marL="31322" marR="31322" marT="23491" marB="23491" anchor="ctr">
                    <a:lnL w="12700" cap="flat" cmpd="sng" algn="ctr">
                      <a:solidFill>
                        <a:srgbClr val="B0C830"/>
                      </a:solidFill>
                      <a:prstDash val="solid"/>
                      <a:round/>
                      <a:headEnd type="none" w="med" len="med"/>
                      <a:tailEnd type="none" w="med" len="med"/>
                    </a:lnL>
                    <a:lnR w="12700" cap="flat" cmpd="sng" algn="ctr">
                      <a:solidFill>
                        <a:srgbClr val="B0C830"/>
                      </a:solidFill>
                      <a:prstDash val="solid"/>
                      <a:round/>
                      <a:headEnd type="none" w="med" len="med"/>
                      <a:tailEnd type="none" w="med" len="med"/>
                    </a:lnR>
                    <a:lnT w="12700" cap="flat" cmpd="sng" algn="ctr">
                      <a:solidFill>
                        <a:srgbClr val="B0C830"/>
                      </a:solidFill>
                      <a:prstDash val="solid"/>
                      <a:round/>
                      <a:headEnd type="none" w="med" len="med"/>
                      <a:tailEnd type="none" w="med" len="med"/>
                    </a:lnT>
                    <a:lnB w="12700" cap="flat" cmpd="sng" algn="ctr">
                      <a:solidFill>
                        <a:srgbClr val="30DB30"/>
                      </a:solidFill>
                      <a:prstDash val="solid"/>
                      <a:round/>
                      <a:headEnd type="none" w="med" len="med"/>
                      <a:tailEnd type="none" w="med" len="med"/>
                    </a:lnB>
                    <a:noFill/>
                  </a:tcPr>
                </a:tc>
                <a:extLst>
                  <a:ext uri="{0D108BD9-81ED-4DB2-BD59-A6C34878D82A}">
                    <a16:rowId xmlns:a16="http://schemas.microsoft.com/office/drawing/2014/main" val="1850684237"/>
                  </a:ext>
                </a:extLst>
              </a:tr>
              <a:tr h="959781">
                <a:tc>
                  <a:txBody>
                    <a:bodyPr/>
                    <a:lstStyle/>
                    <a:p>
                      <a:pPr fontAlgn="base" latinLnBrk="0">
                        <a:buNone/>
                      </a:pPr>
                      <a:r>
                        <a:rPr lang="en-US" sz="2600">
                          <a:effectLst/>
                        </a:rPr>
                        <a:t>Commission (12% of service revenue)</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dirty="0">
                          <a:effectLst/>
                        </a:rPr>
                        <a:t>12% × ₹4,00,000</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a:effectLst/>
                        </a:rPr>
                        <a:t>48,000</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tc>
                  <a:txBody>
                    <a:bodyPr/>
                    <a:lstStyle/>
                    <a:p>
                      <a:pPr fontAlgn="base" latinLnBrk="0">
                        <a:buNone/>
                      </a:pPr>
                      <a:r>
                        <a:rPr lang="en-IN" sz="2600">
                          <a:effectLst/>
                        </a:rPr>
                        <a:t>12%</a:t>
                      </a:r>
                    </a:p>
                  </a:txBody>
                  <a:tcPr marL="31322" marR="31322" marT="23491" marB="23491" anchor="ctr">
                    <a:lnL w="12700" cap="flat" cmpd="sng" algn="ctr">
                      <a:solidFill>
                        <a:srgbClr val="30DB30"/>
                      </a:solidFill>
                      <a:prstDash val="solid"/>
                      <a:round/>
                      <a:headEnd type="none" w="med" len="med"/>
                      <a:tailEnd type="none" w="med" len="med"/>
                    </a:lnL>
                    <a:lnR w="12700" cap="flat" cmpd="sng" algn="ctr">
                      <a:solidFill>
                        <a:srgbClr val="30DB30"/>
                      </a:solidFill>
                      <a:prstDash val="solid"/>
                      <a:round/>
                      <a:headEnd type="none" w="med" len="med"/>
                      <a:tailEnd type="none" w="med" len="med"/>
                    </a:lnR>
                    <a:lnT w="12700" cap="flat" cmpd="sng" algn="ctr">
                      <a:solidFill>
                        <a:srgbClr val="30DB30"/>
                      </a:solidFill>
                      <a:prstDash val="solid"/>
                      <a:round/>
                      <a:headEnd type="none" w="med" len="med"/>
                      <a:tailEnd type="none" w="med" len="med"/>
                    </a:lnT>
                    <a:lnB w="12700" cap="flat" cmpd="sng" algn="ctr">
                      <a:solidFill>
                        <a:srgbClr val="30E730"/>
                      </a:solidFill>
                      <a:prstDash val="solid"/>
                      <a:round/>
                      <a:headEnd type="none" w="med" len="med"/>
                      <a:tailEnd type="none" w="med" len="med"/>
                    </a:lnB>
                    <a:noFill/>
                  </a:tcPr>
                </a:tc>
                <a:extLst>
                  <a:ext uri="{0D108BD9-81ED-4DB2-BD59-A6C34878D82A}">
                    <a16:rowId xmlns:a16="http://schemas.microsoft.com/office/drawing/2014/main" val="3833665458"/>
                  </a:ext>
                </a:extLst>
              </a:tr>
              <a:tr h="959781">
                <a:tc>
                  <a:txBody>
                    <a:bodyPr/>
                    <a:lstStyle/>
                    <a:p>
                      <a:pPr fontAlgn="base" latinLnBrk="0">
                        <a:buNone/>
                      </a:pPr>
                      <a:r>
                        <a:rPr lang="en-US" sz="2600">
                          <a:effectLst/>
                        </a:rPr>
                        <a:t>Lead Generation Credits (10 vendors)</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dirty="0">
                          <a:effectLst/>
                        </a:rPr>
                        <a:t>10 × ₹2,000</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a:effectLst/>
                        </a:rPr>
                        <a:t>20,000</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tc>
                  <a:txBody>
                    <a:bodyPr/>
                    <a:lstStyle/>
                    <a:p>
                      <a:pPr fontAlgn="base" latinLnBrk="0">
                        <a:buNone/>
                      </a:pPr>
                      <a:r>
                        <a:rPr lang="en-IN" sz="2600">
                          <a:effectLst/>
                        </a:rPr>
                        <a:t>5%</a:t>
                      </a:r>
                    </a:p>
                  </a:txBody>
                  <a:tcPr marL="31322" marR="31322" marT="23491" marB="23491" anchor="ctr">
                    <a:lnL w="12700" cap="flat" cmpd="sng" algn="ctr">
                      <a:solidFill>
                        <a:srgbClr val="30E730"/>
                      </a:solidFill>
                      <a:prstDash val="solid"/>
                      <a:round/>
                      <a:headEnd type="none" w="med" len="med"/>
                      <a:tailEnd type="none" w="med" len="med"/>
                    </a:lnL>
                    <a:lnR w="12700" cap="flat" cmpd="sng" algn="ctr">
                      <a:solidFill>
                        <a:srgbClr val="30E730"/>
                      </a:solidFill>
                      <a:prstDash val="solid"/>
                      <a:round/>
                      <a:headEnd type="none" w="med" len="med"/>
                      <a:tailEnd type="none" w="med" len="med"/>
                    </a:lnR>
                    <a:lnT w="12700" cap="flat" cmpd="sng" algn="ctr">
                      <a:solidFill>
                        <a:srgbClr val="30E730"/>
                      </a:solidFill>
                      <a:prstDash val="solid"/>
                      <a:round/>
                      <a:headEnd type="none" w="med" len="med"/>
                      <a:tailEnd type="none" w="med" len="med"/>
                    </a:lnT>
                    <a:lnB w="12700" cap="flat" cmpd="sng" algn="ctr">
                      <a:solidFill>
                        <a:srgbClr val="70F630"/>
                      </a:solidFill>
                      <a:prstDash val="solid"/>
                      <a:round/>
                      <a:headEnd type="none" w="med" len="med"/>
                      <a:tailEnd type="none" w="med" len="med"/>
                    </a:lnB>
                    <a:noFill/>
                  </a:tcPr>
                </a:tc>
                <a:extLst>
                  <a:ext uri="{0D108BD9-81ED-4DB2-BD59-A6C34878D82A}">
                    <a16:rowId xmlns:a16="http://schemas.microsoft.com/office/drawing/2014/main" val="5332479"/>
                  </a:ext>
                </a:extLst>
              </a:tr>
              <a:tr h="915185">
                <a:tc>
                  <a:txBody>
                    <a:bodyPr/>
                    <a:lstStyle/>
                    <a:p>
                      <a:pPr fontAlgn="base" latinLnBrk="0">
                        <a:buNone/>
                      </a:pPr>
                      <a:r>
                        <a:rPr lang="en-US" sz="2600">
                          <a:effectLst/>
                        </a:rPr>
                        <a:t>Advertising (8% of service revenue)</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a:effectLst/>
                        </a:rPr>
                        <a:t>8% × ₹4,00,000</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a:effectLst/>
                        </a:rPr>
                        <a:t>32,000</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tc>
                  <a:txBody>
                    <a:bodyPr/>
                    <a:lstStyle/>
                    <a:p>
                      <a:pPr fontAlgn="base" latinLnBrk="0">
                        <a:buNone/>
                      </a:pPr>
                      <a:r>
                        <a:rPr lang="en-IN" sz="2600" dirty="0">
                          <a:effectLst/>
                        </a:rPr>
                        <a:t>8%</a:t>
                      </a:r>
                    </a:p>
                  </a:txBody>
                  <a:tcPr marL="31322" marR="31322" marT="23491" marB="23491" anchor="ctr">
                    <a:lnL w="12700" cap="flat" cmpd="sng" algn="ctr">
                      <a:solidFill>
                        <a:srgbClr val="70F630"/>
                      </a:solidFill>
                      <a:prstDash val="solid"/>
                      <a:round/>
                      <a:headEnd type="none" w="med" len="med"/>
                      <a:tailEnd type="none" w="med" len="med"/>
                    </a:lnL>
                    <a:lnR w="12700" cap="flat" cmpd="sng" algn="ctr">
                      <a:solidFill>
                        <a:srgbClr val="70F630"/>
                      </a:solidFill>
                      <a:prstDash val="solid"/>
                      <a:round/>
                      <a:headEnd type="none" w="med" len="med"/>
                      <a:tailEnd type="none" w="med" len="med"/>
                    </a:lnR>
                    <a:lnT w="12700" cap="flat" cmpd="sng" algn="ctr">
                      <a:solidFill>
                        <a:srgbClr val="70F630"/>
                      </a:solidFill>
                      <a:prstDash val="solid"/>
                      <a:round/>
                      <a:headEnd type="none" w="med" len="med"/>
                      <a:tailEnd type="none" w="med" len="med"/>
                    </a:lnT>
                    <a:lnB w="12700" cap="flat" cmpd="sng" algn="ctr">
                      <a:solidFill>
                        <a:srgbClr val="300731"/>
                      </a:solidFill>
                      <a:prstDash val="solid"/>
                      <a:round/>
                      <a:headEnd type="none" w="med" len="med"/>
                      <a:tailEnd type="none" w="med" len="med"/>
                    </a:lnB>
                    <a:noFill/>
                  </a:tcPr>
                </a:tc>
                <a:extLst>
                  <a:ext uri="{0D108BD9-81ED-4DB2-BD59-A6C34878D82A}">
                    <a16:rowId xmlns:a16="http://schemas.microsoft.com/office/drawing/2014/main" val="2140432376"/>
                  </a:ext>
                </a:extLst>
              </a:tr>
              <a:tr h="1347168">
                <a:tc>
                  <a:txBody>
                    <a:bodyPr/>
                    <a:lstStyle/>
                    <a:p>
                      <a:pPr fontAlgn="base" latinLnBrk="0">
                        <a:buNone/>
                      </a:pPr>
                      <a:r>
                        <a:rPr lang="en-US" sz="2600">
                          <a:effectLst/>
                        </a:rPr>
                        <a:t>Cancellation Fees (8% of cancelled requests)</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fr-FR" sz="2600">
                          <a:effectLst/>
                        </a:rPr>
                        <a:t>5% cancellations × 1,000 × ₹400 × 8%</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a:effectLst/>
                        </a:rPr>
                        <a:t>1,600</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a:effectLst/>
                        </a:rPr>
                        <a:t>0.4%</a:t>
                      </a:r>
                    </a:p>
                  </a:txBody>
                  <a:tcPr marL="31322" marR="31322" marT="23491" marB="23491" anchor="ctr">
                    <a:lnL w="12700" cap="flat" cmpd="sng" algn="ctr">
                      <a:solidFill>
                        <a:srgbClr val="300731"/>
                      </a:solidFill>
                      <a:prstDash val="solid"/>
                      <a:round/>
                      <a:headEnd type="none" w="med" len="med"/>
                      <a:tailEnd type="none" w="med" len="med"/>
                    </a:lnL>
                    <a:lnR w="12700" cap="flat" cmpd="sng" algn="ctr">
                      <a:solidFill>
                        <a:srgbClr val="300731"/>
                      </a:solidFill>
                      <a:prstDash val="solid"/>
                      <a:round/>
                      <a:headEnd type="none" w="med" len="med"/>
                      <a:tailEnd type="none" w="med" len="med"/>
                    </a:lnR>
                    <a:lnT w="12700" cap="flat" cmpd="sng" algn="ctr">
                      <a:solidFill>
                        <a:srgbClr val="3007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extLst>
                  <a:ext uri="{0D108BD9-81ED-4DB2-BD59-A6C34878D82A}">
                    <a16:rowId xmlns:a16="http://schemas.microsoft.com/office/drawing/2014/main" val="4074646218"/>
                  </a:ext>
                </a:extLst>
              </a:tr>
              <a:tr h="915185">
                <a:tc>
                  <a:txBody>
                    <a:bodyPr/>
                    <a:lstStyle/>
                    <a:p>
                      <a:pPr fontAlgn="base" latinLnBrk="0">
                        <a:buNone/>
                      </a:pPr>
                      <a:r>
                        <a:rPr lang="en-IN" sz="2600" b="0" dirty="0">
                          <a:effectLst/>
                        </a:rPr>
                        <a:t>Total Estimated Revenue</a:t>
                      </a:r>
                      <a:endParaRPr lang="en-IN" sz="2600" dirty="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endParaRPr lang="en-IN" sz="260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b="0" dirty="0">
                          <a:effectLst/>
                        </a:rPr>
                        <a:t>6,81,600</a:t>
                      </a:r>
                      <a:endParaRPr lang="en-IN" sz="2600" dirty="0">
                        <a:effectLst/>
                      </a:endParaRP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tc>
                  <a:txBody>
                    <a:bodyPr/>
                    <a:lstStyle/>
                    <a:p>
                      <a:pPr fontAlgn="base" latinLnBrk="0">
                        <a:buNone/>
                      </a:pPr>
                      <a:r>
                        <a:rPr lang="en-IN" sz="2600" dirty="0">
                          <a:effectLst/>
                        </a:rPr>
                        <a:t>170.4% of base svc.</a:t>
                      </a:r>
                    </a:p>
                  </a:txBody>
                  <a:tcPr marL="31322" marR="31322" marT="23491" marB="23491" anchor="ctr">
                    <a:lnL w="12700" cap="flat" cmpd="sng" algn="ctr">
                      <a:solidFill>
                        <a:srgbClr val="302431"/>
                      </a:solidFill>
                      <a:prstDash val="solid"/>
                      <a:round/>
                      <a:headEnd type="none" w="med" len="med"/>
                      <a:tailEnd type="none" w="med" len="med"/>
                    </a:lnL>
                    <a:lnR w="12700" cap="flat" cmpd="sng" algn="ctr">
                      <a:solidFill>
                        <a:srgbClr val="302431"/>
                      </a:solidFill>
                      <a:prstDash val="solid"/>
                      <a:round/>
                      <a:headEnd type="none" w="med" len="med"/>
                      <a:tailEnd type="none" w="med" len="med"/>
                    </a:lnR>
                    <a:lnT w="12700" cap="flat" cmpd="sng" algn="ctr">
                      <a:solidFill>
                        <a:srgbClr val="302431"/>
                      </a:solidFill>
                      <a:prstDash val="solid"/>
                      <a:round/>
                      <a:headEnd type="none" w="med" len="med"/>
                      <a:tailEnd type="none" w="med" len="med"/>
                    </a:lnT>
                    <a:lnB w="12700" cap="flat" cmpd="sng" algn="ctr">
                      <a:solidFill>
                        <a:srgbClr val="302431"/>
                      </a:solidFill>
                      <a:prstDash val="solid"/>
                      <a:round/>
                      <a:headEnd type="none" w="med" len="med"/>
                      <a:tailEnd type="none" w="med" len="med"/>
                    </a:lnB>
                    <a:noFill/>
                  </a:tcPr>
                </a:tc>
                <a:extLst>
                  <a:ext uri="{0D108BD9-81ED-4DB2-BD59-A6C34878D82A}">
                    <a16:rowId xmlns:a16="http://schemas.microsoft.com/office/drawing/2014/main" val="1549703515"/>
                  </a:ext>
                </a:extLst>
              </a:tr>
            </a:tbl>
          </a:graphicData>
        </a:graphic>
      </p:graphicFrame>
      <p:sp>
        <p:nvSpPr>
          <p:cNvPr id="12" name="TextBox 11">
            <a:extLst>
              <a:ext uri="{FF2B5EF4-FFF2-40B4-BE49-F238E27FC236}">
                <a16:creationId xmlns:a16="http://schemas.microsoft.com/office/drawing/2014/main" id="{3F989F6D-84FC-618B-DD2D-8EED9495518C}"/>
              </a:ext>
            </a:extLst>
          </p:cNvPr>
          <p:cNvSpPr txBox="1"/>
          <p:nvPr/>
        </p:nvSpPr>
        <p:spPr>
          <a:xfrm>
            <a:off x="11830145" y="1863556"/>
            <a:ext cx="6276109" cy="8279190"/>
          </a:xfrm>
          <a:prstGeom prst="rect">
            <a:avLst/>
          </a:prstGeom>
          <a:noFill/>
        </p:spPr>
        <p:txBody>
          <a:bodyPr wrap="square" rtlCol="0">
            <a:spAutoFit/>
          </a:bodyPr>
          <a:lstStyle/>
          <a:p>
            <a:r>
              <a:rPr lang="en-US" sz="2800" dirty="0">
                <a:solidFill>
                  <a:srgbClr val="FF0000"/>
                </a:solidFill>
              </a:rPr>
              <a:t>Assumptions:</a:t>
            </a:r>
          </a:p>
          <a:p>
            <a:pPr marL="457200" indent="-457200">
              <a:buFont typeface="Arial" panose="020B0604020202020204" pitchFamily="34" charset="0"/>
              <a:buChar char="•"/>
            </a:pPr>
            <a:r>
              <a:rPr lang="en-US" sz="2800" dirty="0"/>
              <a:t>Monthly service requests: 1,000</a:t>
            </a:r>
          </a:p>
          <a:p>
            <a:pPr marL="457200" indent="-457200">
              <a:buFont typeface="Arial" panose="020B0604020202020204" pitchFamily="34" charset="0"/>
              <a:buChar char="•"/>
            </a:pPr>
            <a:r>
              <a:rPr lang="en-US" sz="2800" dirty="0"/>
              <a:t>Average cost per service request: ₹400</a:t>
            </a:r>
          </a:p>
          <a:p>
            <a:pPr marL="457200" indent="-457200">
              <a:buFont typeface="Arial" panose="020B0604020202020204" pitchFamily="34" charset="0"/>
              <a:buChar char="•"/>
            </a:pPr>
            <a:r>
              <a:rPr lang="en-US" sz="2800" dirty="0"/>
              <a:t>Total monthly revenue from services: ₹4,00,000 (1,000 × ₹400)</a:t>
            </a:r>
          </a:p>
          <a:p>
            <a:pPr marL="457200" indent="-457200">
              <a:buFont typeface="Arial" panose="020B0604020202020204" pitchFamily="34" charset="0"/>
              <a:buChar char="•"/>
            </a:pPr>
            <a:r>
              <a:rPr lang="en-US" sz="2800" dirty="0"/>
              <a:t>Number of vendors: 100</a:t>
            </a:r>
          </a:p>
          <a:p>
            <a:pPr marL="457200" indent="-457200">
              <a:buFont typeface="Arial" panose="020B0604020202020204" pitchFamily="34" charset="0"/>
              <a:buChar char="•"/>
            </a:pPr>
            <a:r>
              <a:rPr lang="en-US" sz="2800" dirty="0"/>
              <a:t>Vendor registration fee: ₹500 per vendor</a:t>
            </a:r>
          </a:p>
          <a:p>
            <a:pPr marL="457200" indent="-457200">
              <a:buFont typeface="Arial" panose="020B0604020202020204" pitchFamily="34" charset="0"/>
              <a:buChar char="•"/>
            </a:pPr>
            <a:r>
              <a:rPr lang="en-US" sz="2800" dirty="0"/>
              <a:t>Training fee (assumed 20% vendors need training): ₹1,500 each</a:t>
            </a:r>
          </a:p>
          <a:p>
            <a:pPr marL="457200" indent="-457200">
              <a:buFont typeface="Arial" panose="020B0604020202020204" pitchFamily="34" charset="0"/>
              <a:buChar char="•"/>
            </a:pPr>
            <a:r>
              <a:rPr lang="en-US" sz="2800" dirty="0"/>
              <a:t>Commission rate on services: average 12%</a:t>
            </a:r>
          </a:p>
          <a:p>
            <a:pPr marL="457200" indent="-457200">
              <a:buFont typeface="Arial" panose="020B0604020202020204" pitchFamily="34" charset="0"/>
              <a:buChar char="•"/>
            </a:pPr>
            <a:r>
              <a:rPr lang="en-US" sz="2800" dirty="0"/>
              <a:t>Lead generation credits: 10% vendors subscribe, paying ₹2,000 per month</a:t>
            </a:r>
          </a:p>
          <a:p>
            <a:pPr marL="457200" indent="-457200">
              <a:buFont typeface="Arial" panose="020B0604020202020204" pitchFamily="34" charset="0"/>
              <a:buChar char="•"/>
            </a:pPr>
            <a:r>
              <a:rPr lang="en-US" sz="2800" dirty="0"/>
              <a:t>Advertising revenue: estimated at 8% of total service revenue</a:t>
            </a:r>
          </a:p>
          <a:p>
            <a:pPr marL="457200" indent="-457200">
              <a:buFont typeface="Arial" panose="020B0604020202020204" pitchFamily="34" charset="0"/>
              <a:buChar char="•"/>
            </a:pPr>
            <a:r>
              <a:rPr lang="en-US" sz="2800" dirty="0"/>
              <a:t>Cancellation fee: 8% of cancelled requests (assume 5% cancellation rate)</a:t>
            </a:r>
          </a:p>
          <a:p>
            <a:endParaRPr lang="en-IN" sz="2800" dirty="0"/>
          </a:p>
        </p:txBody>
      </p:sp>
    </p:spTree>
    <p:extLst>
      <p:ext uri="{BB962C8B-B14F-4D97-AF65-F5344CB8AC3E}">
        <p14:creationId xmlns:p14="http://schemas.microsoft.com/office/powerpoint/2010/main" val="1817555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AF2D2A-04C9-8889-EE44-B66EEFEC3936}"/>
              </a:ext>
            </a:extLst>
          </p:cNvPr>
          <p:cNvPicPr>
            <a:picLocks noChangeAspect="1"/>
          </p:cNvPicPr>
          <p:nvPr/>
        </p:nvPicPr>
        <p:blipFill>
          <a:blip r:embed="rId2" cstate="print"/>
          <a:stretch>
            <a:fillRect/>
          </a:stretch>
        </p:blipFill>
        <p:spPr>
          <a:xfrm>
            <a:off x="1" y="289561"/>
            <a:ext cx="3200400" cy="846332"/>
          </a:xfrm>
          <a:prstGeom prst="rect">
            <a:avLst/>
          </a:prstGeom>
        </p:spPr>
      </p:pic>
      <p:pic>
        <p:nvPicPr>
          <p:cNvPr id="3" name="Picture 2">
            <a:extLst>
              <a:ext uri="{FF2B5EF4-FFF2-40B4-BE49-F238E27FC236}">
                <a16:creationId xmlns:a16="http://schemas.microsoft.com/office/drawing/2014/main" id="{36712C4E-8BFA-F829-60D5-7BAD7F997037}"/>
              </a:ext>
            </a:extLst>
          </p:cNvPr>
          <p:cNvPicPr>
            <a:picLocks noChangeAspect="1"/>
          </p:cNvPicPr>
          <p:nvPr/>
        </p:nvPicPr>
        <p:blipFill>
          <a:blip r:embed="rId3" cstate="print"/>
          <a:stretch>
            <a:fillRect/>
          </a:stretch>
        </p:blipFill>
        <p:spPr>
          <a:xfrm>
            <a:off x="15369540" y="0"/>
            <a:ext cx="2918460" cy="1060031"/>
          </a:xfrm>
          <a:prstGeom prst="rect">
            <a:avLst/>
          </a:prstGeom>
        </p:spPr>
      </p:pic>
      <p:sp>
        <p:nvSpPr>
          <p:cNvPr id="6" name="TextBox 5">
            <a:extLst>
              <a:ext uri="{FF2B5EF4-FFF2-40B4-BE49-F238E27FC236}">
                <a16:creationId xmlns:a16="http://schemas.microsoft.com/office/drawing/2014/main" id="{0B40FDD1-A857-B67B-F0DE-4C51B005362D}"/>
              </a:ext>
            </a:extLst>
          </p:cNvPr>
          <p:cNvSpPr txBox="1"/>
          <p:nvPr/>
        </p:nvSpPr>
        <p:spPr>
          <a:xfrm>
            <a:off x="914400" y="4533900"/>
            <a:ext cx="6553200" cy="1815882"/>
          </a:xfrm>
          <a:prstGeom prst="rect">
            <a:avLst/>
          </a:prstGeom>
          <a:noFill/>
        </p:spPr>
        <p:txBody>
          <a:bodyPr wrap="square">
            <a:spAutoFit/>
          </a:bodyPr>
          <a:lstStyle/>
          <a:p>
            <a:pPr algn="ctr">
              <a:buNone/>
            </a:pPr>
            <a:r>
              <a:rPr lang="en-IN" sz="2800" b="0" i="0" dirty="0">
                <a:effectLst/>
                <a:latin typeface="+mj-lt"/>
              </a:rPr>
              <a:t>Net Profit Estimate:</a:t>
            </a:r>
          </a:p>
          <a:p>
            <a:pPr algn="l">
              <a:buNone/>
            </a:pPr>
            <a:endParaRPr lang="en-IN" sz="2800" b="0" i="0" dirty="0">
              <a:effectLst/>
              <a:latin typeface="+mj-lt"/>
            </a:endParaRPr>
          </a:p>
          <a:p>
            <a:pPr algn="ctr">
              <a:buNone/>
            </a:pPr>
            <a:r>
              <a:rPr lang="en-IN" sz="2800" b="0" i="0" dirty="0">
                <a:effectLst/>
                <a:latin typeface="+mj-lt"/>
              </a:rPr>
              <a:t>Net Profit = Total Revenue − Total Cost = ₹6,81,600 − ₹31,000 = ₹6,50,600</a:t>
            </a:r>
            <a:endParaRPr lang="en-IN" sz="2800" dirty="0">
              <a:latin typeface="+mj-lt"/>
            </a:endParaRPr>
          </a:p>
        </p:txBody>
      </p:sp>
      <p:graphicFrame>
        <p:nvGraphicFramePr>
          <p:cNvPr id="7" name="Table 6">
            <a:extLst>
              <a:ext uri="{FF2B5EF4-FFF2-40B4-BE49-F238E27FC236}">
                <a16:creationId xmlns:a16="http://schemas.microsoft.com/office/drawing/2014/main" id="{6F6941BF-9EA2-2CA5-CD58-90F4FF44D7B5}"/>
              </a:ext>
            </a:extLst>
          </p:cNvPr>
          <p:cNvGraphicFramePr>
            <a:graphicFrameLocks noGrp="1"/>
          </p:cNvGraphicFramePr>
          <p:nvPr>
            <p:extLst>
              <p:ext uri="{D42A27DB-BD31-4B8C-83A1-F6EECF244321}">
                <p14:modId xmlns:p14="http://schemas.microsoft.com/office/powerpoint/2010/main" val="481750366"/>
              </p:ext>
            </p:extLst>
          </p:nvPr>
        </p:nvGraphicFramePr>
        <p:xfrm>
          <a:off x="8610600" y="2019300"/>
          <a:ext cx="9448800" cy="8004248"/>
        </p:xfrm>
        <a:graphic>
          <a:graphicData uri="http://schemas.openxmlformats.org/drawingml/2006/table">
            <a:tbl>
              <a:tblPr/>
              <a:tblGrid>
                <a:gridCol w="5791200">
                  <a:extLst>
                    <a:ext uri="{9D8B030D-6E8A-4147-A177-3AD203B41FA5}">
                      <a16:colId xmlns:a16="http://schemas.microsoft.com/office/drawing/2014/main" val="2367151344"/>
                    </a:ext>
                  </a:extLst>
                </a:gridCol>
                <a:gridCol w="3657600">
                  <a:extLst>
                    <a:ext uri="{9D8B030D-6E8A-4147-A177-3AD203B41FA5}">
                      <a16:colId xmlns:a16="http://schemas.microsoft.com/office/drawing/2014/main" val="1621261707"/>
                    </a:ext>
                  </a:extLst>
                </a:gridCol>
              </a:tblGrid>
              <a:tr h="560876">
                <a:tc>
                  <a:txBody>
                    <a:bodyPr/>
                    <a:lstStyle/>
                    <a:p>
                      <a:pPr algn="l" fontAlgn="t" latinLnBrk="0">
                        <a:buNone/>
                      </a:pPr>
                      <a:r>
                        <a:rPr lang="en-IN" sz="2800" b="0">
                          <a:effectLst/>
                        </a:rPr>
                        <a:t>Expense</a:t>
                      </a:r>
                    </a:p>
                  </a:txBody>
                  <a:tcPr marL="60960" marR="60960" marT="60960" marB="60960">
                    <a:lnL>
                      <a:noFill/>
                    </a:lnL>
                    <a:lnR>
                      <a:noFill/>
                    </a:lnR>
                    <a:lnT>
                      <a:noFill/>
                    </a:lnT>
                    <a:lnB w="12700" cap="flat" cmpd="sng" algn="ctr">
                      <a:solidFill>
                        <a:srgbClr val="706931"/>
                      </a:solidFill>
                      <a:prstDash val="solid"/>
                      <a:round/>
                      <a:headEnd type="none" w="med" len="med"/>
                      <a:tailEnd type="none" w="med" len="med"/>
                    </a:lnB>
                    <a:noFill/>
                  </a:tcPr>
                </a:tc>
                <a:tc>
                  <a:txBody>
                    <a:bodyPr/>
                    <a:lstStyle/>
                    <a:p>
                      <a:pPr algn="l" fontAlgn="t" latinLnBrk="0">
                        <a:buNone/>
                      </a:pPr>
                      <a:r>
                        <a:rPr lang="en-IN" sz="2800" b="0" dirty="0">
                          <a:effectLst/>
                        </a:rPr>
                        <a:t>Amount (₹ per month)</a:t>
                      </a:r>
                    </a:p>
                  </a:txBody>
                  <a:tcPr marL="60960" marR="60960" marT="60960" marB="60960">
                    <a:lnL>
                      <a:noFill/>
                    </a:lnL>
                    <a:lnR>
                      <a:noFill/>
                    </a:lnR>
                    <a:lnT>
                      <a:noFill/>
                    </a:lnT>
                    <a:lnB w="12700" cap="flat" cmpd="sng" algn="ctr">
                      <a:solidFill>
                        <a:srgbClr val="706931"/>
                      </a:solidFill>
                      <a:prstDash val="solid"/>
                      <a:round/>
                      <a:headEnd type="none" w="med" len="med"/>
                      <a:tailEnd type="none" w="med" len="med"/>
                    </a:lnB>
                    <a:noFill/>
                  </a:tcPr>
                </a:tc>
                <a:extLst>
                  <a:ext uri="{0D108BD9-81ED-4DB2-BD59-A6C34878D82A}">
                    <a16:rowId xmlns:a16="http://schemas.microsoft.com/office/drawing/2014/main" val="133823301"/>
                  </a:ext>
                </a:extLst>
              </a:tr>
              <a:tr h="1975930">
                <a:tc>
                  <a:txBody>
                    <a:bodyPr/>
                    <a:lstStyle/>
                    <a:p>
                      <a:pPr fontAlgn="base" latinLnBrk="0">
                        <a:buNone/>
                      </a:pPr>
                      <a:r>
                        <a:rPr lang="en-US" sz="2800" dirty="0">
                          <a:effectLst/>
                        </a:rPr>
                        <a:t>Development &amp; Hosting (e.g., Firebase, Node.js backend)</a:t>
                      </a:r>
                    </a:p>
                  </a:txBody>
                  <a:tcPr marL="60960" marR="60960" anchor="ctr">
                    <a:lnL w="12700" cap="flat" cmpd="sng" algn="ctr">
                      <a:solidFill>
                        <a:srgbClr val="706931"/>
                      </a:solidFill>
                      <a:prstDash val="solid"/>
                      <a:round/>
                      <a:headEnd type="none" w="med" len="med"/>
                      <a:tailEnd type="none" w="med" len="med"/>
                    </a:lnL>
                    <a:lnR w="12700" cap="flat" cmpd="sng" algn="ctr">
                      <a:solidFill>
                        <a:srgbClr val="706931"/>
                      </a:solidFill>
                      <a:prstDash val="solid"/>
                      <a:round/>
                      <a:headEnd type="none" w="med" len="med"/>
                      <a:tailEnd type="none" w="med" len="med"/>
                    </a:lnR>
                    <a:lnT w="12700" cap="flat" cmpd="sng" algn="ctr">
                      <a:solidFill>
                        <a:srgbClr val="706931"/>
                      </a:solidFill>
                      <a:prstDash val="solid"/>
                      <a:round/>
                      <a:headEnd type="none" w="med" len="med"/>
                      <a:tailEnd type="none" w="med" len="med"/>
                    </a:lnT>
                    <a:lnB w="12700" cap="flat" cmpd="sng" algn="ctr">
                      <a:solidFill>
                        <a:srgbClr val="B06331"/>
                      </a:solidFill>
                      <a:prstDash val="solid"/>
                      <a:round/>
                      <a:headEnd type="none" w="med" len="med"/>
                      <a:tailEnd type="none" w="med" len="med"/>
                    </a:lnB>
                    <a:noFill/>
                  </a:tcPr>
                </a:tc>
                <a:tc>
                  <a:txBody>
                    <a:bodyPr/>
                    <a:lstStyle/>
                    <a:p>
                      <a:pPr fontAlgn="base" latinLnBrk="0">
                        <a:buNone/>
                      </a:pPr>
                      <a:r>
                        <a:rPr lang="en-IN" sz="2800" dirty="0">
                          <a:effectLst/>
                        </a:rPr>
                        <a:t>12,000</a:t>
                      </a:r>
                    </a:p>
                  </a:txBody>
                  <a:tcPr marL="60960" marR="60960" anchor="ctr">
                    <a:lnL w="12700" cap="flat" cmpd="sng" algn="ctr">
                      <a:solidFill>
                        <a:srgbClr val="706931"/>
                      </a:solidFill>
                      <a:prstDash val="solid"/>
                      <a:round/>
                      <a:headEnd type="none" w="med" len="med"/>
                      <a:tailEnd type="none" w="med" len="med"/>
                    </a:lnL>
                    <a:lnR w="12700" cap="flat" cmpd="sng" algn="ctr">
                      <a:solidFill>
                        <a:srgbClr val="706931"/>
                      </a:solidFill>
                      <a:prstDash val="solid"/>
                      <a:round/>
                      <a:headEnd type="none" w="med" len="med"/>
                      <a:tailEnd type="none" w="med" len="med"/>
                    </a:lnR>
                    <a:lnT w="12700" cap="flat" cmpd="sng" algn="ctr">
                      <a:solidFill>
                        <a:srgbClr val="706931"/>
                      </a:solidFill>
                      <a:prstDash val="solid"/>
                      <a:round/>
                      <a:headEnd type="none" w="med" len="med"/>
                      <a:tailEnd type="none" w="med" len="med"/>
                    </a:lnT>
                    <a:lnB w="12700" cap="flat" cmpd="sng" algn="ctr">
                      <a:solidFill>
                        <a:srgbClr val="B06331"/>
                      </a:solidFill>
                      <a:prstDash val="solid"/>
                      <a:round/>
                      <a:headEnd type="none" w="med" len="med"/>
                      <a:tailEnd type="none" w="med" len="med"/>
                    </a:lnB>
                    <a:noFill/>
                  </a:tcPr>
                </a:tc>
                <a:extLst>
                  <a:ext uri="{0D108BD9-81ED-4DB2-BD59-A6C34878D82A}">
                    <a16:rowId xmlns:a16="http://schemas.microsoft.com/office/drawing/2014/main" val="3904326774"/>
                  </a:ext>
                </a:extLst>
              </a:tr>
              <a:tr h="956789">
                <a:tc>
                  <a:txBody>
                    <a:bodyPr/>
                    <a:lstStyle/>
                    <a:p>
                      <a:pPr fontAlgn="base" latinLnBrk="0">
                        <a:buNone/>
                      </a:pPr>
                      <a:r>
                        <a:rPr lang="en-IN" sz="2800">
                          <a:effectLst/>
                        </a:rPr>
                        <a:t>AI Chatbot &amp; API Integration</a:t>
                      </a:r>
                    </a:p>
                  </a:txBody>
                  <a:tcPr marL="60960" marR="60960" anchor="ctr">
                    <a:lnL w="12700" cap="flat" cmpd="sng" algn="ctr">
                      <a:solidFill>
                        <a:srgbClr val="B06331"/>
                      </a:solidFill>
                      <a:prstDash val="solid"/>
                      <a:round/>
                      <a:headEnd type="none" w="med" len="med"/>
                      <a:tailEnd type="none" w="med" len="med"/>
                    </a:lnL>
                    <a:lnR w="12700" cap="flat" cmpd="sng" algn="ctr">
                      <a:solidFill>
                        <a:srgbClr val="B06331"/>
                      </a:solidFill>
                      <a:prstDash val="solid"/>
                      <a:round/>
                      <a:headEnd type="none" w="med" len="med"/>
                      <a:tailEnd type="none" w="med" len="med"/>
                    </a:lnR>
                    <a:lnT w="12700" cap="flat" cmpd="sng" algn="ctr">
                      <a:solidFill>
                        <a:srgbClr val="B06331"/>
                      </a:solidFill>
                      <a:prstDash val="solid"/>
                      <a:round/>
                      <a:headEnd type="none" w="med" len="med"/>
                      <a:tailEnd type="none" w="med" len="med"/>
                    </a:lnT>
                    <a:lnB w="12700" cap="flat" cmpd="sng" algn="ctr">
                      <a:solidFill>
                        <a:srgbClr val="F07831"/>
                      </a:solidFill>
                      <a:prstDash val="solid"/>
                      <a:round/>
                      <a:headEnd type="none" w="med" len="med"/>
                      <a:tailEnd type="none" w="med" len="med"/>
                    </a:lnB>
                    <a:noFill/>
                  </a:tcPr>
                </a:tc>
                <a:tc>
                  <a:txBody>
                    <a:bodyPr/>
                    <a:lstStyle/>
                    <a:p>
                      <a:pPr fontAlgn="base" latinLnBrk="0">
                        <a:buNone/>
                      </a:pPr>
                      <a:r>
                        <a:rPr lang="en-IN" sz="2800" dirty="0">
                          <a:effectLst/>
                        </a:rPr>
                        <a:t>8,000</a:t>
                      </a:r>
                    </a:p>
                  </a:txBody>
                  <a:tcPr marL="60960" marR="60960" anchor="ctr">
                    <a:lnL w="12700" cap="flat" cmpd="sng" algn="ctr">
                      <a:solidFill>
                        <a:srgbClr val="B06331"/>
                      </a:solidFill>
                      <a:prstDash val="solid"/>
                      <a:round/>
                      <a:headEnd type="none" w="med" len="med"/>
                      <a:tailEnd type="none" w="med" len="med"/>
                    </a:lnL>
                    <a:lnR w="12700" cap="flat" cmpd="sng" algn="ctr">
                      <a:solidFill>
                        <a:srgbClr val="B06331"/>
                      </a:solidFill>
                      <a:prstDash val="solid"/>
                      <a:round/>
                      <a:headEnd type="none" w="med" len="med"/>
                      <a:tailEnd type="none" w="med" len="med"/>
                    </a:lnR>
                    <a:lnT w="12700" cap="flat" cmpd="sng" algn="ctr">
                      <a:solidFill>
                        <a:srgbClr val="B06331"/>
                      </a:solidFill>
                      <a:prstDash val="solid"/>
                      <a:round/>
                      <a:headEnd type="none" w="med" len="med"/>
                      <a:tailEnd type="none" w="med" len="med"/>
                    </a:lnT>
                    <a:lnB w="12700" cap="flat" cmpd="sng" algn="ctr">
                      <a:solidFill>
                        <a:srgbClr val="F07831"/>
                      </a:solidFill>
                      <a:prstDash val="solid"/>
                      <a:round/>
                      <a:headEnd type="none" w="med" len="med"/>
                      <a:tailEnd type="none" w="med" len="med"/>
                    </a:lnB>
                    <a:noFill/>
                  </a:tcPr>
                </a:tc>
                <a:extLst>
                  <a:ext uri="{0D108BD9-81ED-4DB2-BD59-A6C34878D82A}">
                    <a16:rowId xmlns:a16="http://schemas.microsoft.com/office/drawing/2014/main" val="2450864256"/>
                  </a:ext>
                </a:extLst>
              </a:tr>
              <a:tr h="842676">
                <a:tc>
                  <a:txBody>
                    <a:bodyPr/>
                    <a:lstStyle/>
                    <a:p>
                      <a:pPr fontAlgn="base" latinLnBrk="0">
                        <a:buNone/>
                      </a:pPr>
                      <a:r>
                        <a:rPr lang="en-IN" sz="2800">
                          <a:effectLst/>
                        </a:rPr>
                        <a:t>Marketing &amp; SEO</a:t>
                      </a:r>
                    </a:p>
                  </a:txBody>
                  <a:tcPr marL="60960" marR="60960" anchor="ctr">
                    <a:lnL w="12700" cap="flat" cmpd="sng" algn="ctr">
                      <a:solidFill>
                        <a:srgbClr val="F07831"/>
                      </a:solidFill>
                      <a:prstDash val="solid"/>
                      <a:round/>
                      <a:headEnd type="none" w="med" len="med"/>
                      <a:tailEnd type="none" w="med" len="med"/>
                    </a:lnL>
                    <a:lnR w="12700" cap="flat" cmpd="sng" algn="ctr">
                      <a:solidFill>
                        <a:srgbClr val="F07831"/>
                      </a:solidFill>
                      <a:prstDash val="solid"/>
                      <a:round/>
                      <a:headEnd type="none" w="med" len="med"/>
                      <a:tailEnd type="none" w="med" len="med"/>
                    </a:lnR>
                    <a:lnT w="12700" cap="flat" cmpd="sng" algn="ctr">
                      <a:solidFill>
                        <a:srgbClr val="F07831"/>
                      </a:solidFill>
                      <a:prstDash val="solid"/>
                      <a:round/>
                      <a:headEnd type="none" w="med" len="med"/>
                      <a:tailEnd type="none" w="med" len="med"/>
                    </a:lnT>
                    <a:lnB w="12700" cap="flat" cmpd="sng" algn="ctr">
                      <a:solidFill>
                        <a:srgbClr val="708831"/>
                      </a:solidFill>
                      <a:prstDash val="solid"/>
                      <a:round/>
                      <a:headEnd type="none" w="med" len="med"/>
                      <a:tailEnd type="none" w="med" len="med"/>
                    </a:lnB>
                    <a:noFill/>
                  </a:tcPr>
                </a:tc>
                <a:tc>
                  <a:txBody>
                    <a:bodyPr/>
                    <a:lstStyle/>
                    <a:p>
                      <a:pPr fontAlgn="base" latinLnBrk="0">
                        <a:buNone/>
                      </a:pPr>
                      <a:r>
                        <a:rPr lang="en-IN" sz="2800" dirty="0">
                          <a:effectLst/>
                        </a:rPr>
                        <a:t>5,000</a:t>
                      </a:r>
                    </a:p>
                  </a:txBody>
                  <a:tcPr marL="60960" marR="60960" anchor="ctr">
                    <a:lnL w="12700" cap="flat" cmpd="sng" algn="ctr">
                      <a:solidFill>
                        <a:srgbClr val="F07831"/>
                      </a:solidFill>
                      <a:prstDash val="solid"/>
                      <a:round/>
                      <a:headEnd type="none" w="med" len="med"/>
                      <a:tailEnd type="none" w="med" len="med"/>
                    </a:lnL>
                    <a:lnR w="12700" cap="flat" cmpd="sng" algn="ctr">
                      <a:solidFill>
                        <a:srgbClr val="F07831"/>
                      </a:solidFill>
                      <a:prstDash val="solid"/>
                      <a:round/>
                      <a:headEnd type="none" w="med" len="med"/>
                      <a:tailEnd type="none" w="med" len="med"/>
                    </a:lnR>
                    <a:lnT w="12700" cap="flat" cmpd="sng" algn="ctr">
                      <a:solidFill>
                        <a:srgbClr val="F07831"/>
                      </a:solidFill>
                      <a:prstDash val="solid"/>
                      <a:round/>
                      <a:headEnd type="none" w="med" len="med"/>
                      <a:tailEnd type="none" w="med" len="med"/>
                    </a:lnT>
                    <a:lnB w="12700" cap="flat" cmpd="sng" algn="ctr">
                      <a:solidFill>
                        <a:srgbClr val="708831"/>
                      </a:solidFill>
                      <a:prstDash val="solid"/>
                      <a:round/>
                      <a:headEnd type="none" w="med" len="med"/>
                      <a:tailEnd type="none" w="med" len="med"/>
                    </a:lnB>
                    <a:noFill/>
                  </a:tcPr>
                </a:tc>
                <a:extLst>
                  <a:ext uri="{0D108BD9-81ED-4DB2-BD59-A6C34878D82A}">
                    <a16:rowId xmlns:a16="http://schemas.microsoft.com/office/drawing/2014/main" val="4289786231"/>
                  </a:ext>
                </a:extLst>
              </a:tr>
              <a:tr h="1220427">
                <a:tc>
                  <a:txBody>
                    <a:bodyPr/>
                    <a:lstStyle/>
                    <a:p>
                      <a:pPr fontAlgn="base" latinLnBrk="0">
                        <a:buNone/>
                      </a:pPr>
                      <a:r>
                        <a:rPr lang="en-IN" sz="2800">
                          <a:effectLst/>
                        </a:rPr>
                        <a:t>Platform Maintenance &amp; Updates</a:t>
                      </a:r>
                    </a:p>
                  </a:txBody>
                  <a:tcPr marL="60960" marR="60960" anchor="ctr">
                    <a:lnL w="12700" cap="flat" cmpd="sng" algn="ctr">
                      <a:solidFill>
                        <a:srgbClr val="708831"/>
                      </a:solidFill>
                      <a:prstDash val="solid"/>
                      <a:round/>
                      <a:headEnd type="none" w="med" len="med"/>
                      <a:tailEnd type="none" w="med" len="med"/>
                    </a:lnL>
                    <a:lnR w="12700" cap="flat" cmpd="sng" algn="ctr">
                      <a:solidFill>
                        <a:srgbClr val="708831"/>
                      </a:solidFill>
                      <a:prstDash val="solid"/>
                      <a:round/>
                      <a:headEnd type="none" w="med" len="med"/>
                      <a:tailEnd type="none" w="med" len="med"/>
                    </a:lnR>
                    <a:lnT w="12700" cap="flat" cmpd="sng" algn="ctr">
                      <a:solidFill>
                        <a:srgbClr val="708831"/>
                      </a:solidFill>
                      <a:prstDash val="solid"/>
                      <a:round/>
                      <a:headEnd type="none" w="med" len="med"/>
                      <a:tailEnd type="none" w="med" len="med"/>
                    </a:lnT>
                    <a:lnB w="12700" cap="flat" cmpd="sng" algn="ctr">
                      <a:solidFill>
                        <a:srgbClr val="B08331"/>
                      </a:solidFill>
                      <a:prstDash val="solid"/>
                      <a:round/>
                      <a:headEnd type="none" w="med" len="med"/>
                      <a:tailEnd type="none" w="med" len="med"/>
                    </a:lnB>
                    <a:noFill/>
                  </a:tcPr>
                </a:tc>
                <a:tc>
                  <a:txBody>
                    <a:bodyPr/>
                    <a:lstStyle/>
                    <a:p>
                      <a:pPr fontAlgn="base" latinLnBrk="0">
                        <a:buNone/>
                      </a:pPr>
                      <a:r>
                        <a:rPr lang="en-IN" sz="2800" dirty="0">
                          <a:effectLst/>
                        </a:rPr>
                        <a:t>4,000</a:t>
                      </a:r>
                    </a:p>
                  </a:txBody>
                  <a:tcPr marL="60960" marR="60960" anchor="ctr">
                    <a:lnL w="12700" cap="flat" cmpd="sng" algn="ctr">
                      <a:solidFill>
                        <a:srgbClr val="708831"/>
                      </a:solidFill>
                      <a:prstDash val="solid"/>
                      <a:round/>
                      <a:headEnd type="none" w="med" len="med"/>
                      <a:tailEnd type="none" w="med" len="med"/>
                    </a:lnL>
                    <a:lnR w="12700" cap="flat" cmpd="sng" algn="ctr">
                      <a:solidFill>
                        <a:srgbClr val="708831"/>
                      </a:solidFill>
                      <a:prstDash val="solid"/>
                      <a:round/>
                      <a:headEnd type="none" w="med" len="med"/>
                      <a:tailEnd type="none" w="med" len="med"/>
                    </a:lnR>
                    <a:lnT w="12700" cap="flat" cmpd="sng" algn="ctr">
                      <a:solidFill>
                        <a:srgbClr val="708831"/>
                      </a:solidFill>
                      <a:prstDash val="solid"/>
                      <a:round/>
                      <a:headEnd type="none" w="med" len="med"/>
                      <a:tailEnd type="none" w="med" len="med"/>
                    </a:lnT>
                    <a:lnB w="12700" cap="flat" cmpd="sng" algn="ctr">
                      <a:solidFill>
                        <a:srgbClr val="B08331"/>
                      </a:solidFill>
                      <a:prstDash val="solid"/>
                      <a:round/>
                      <a:headEnd type="none" w="med" len="med"/>
                      <a:tailEnd type="none" w="med" len="med"/>
                    </a:lnB>
                    <a:noFill/>
                  </a:tcPr>
                </a:tc>
                <a:extLst>
                  <a:ext uri="{0D108BD9-81ED-4DB2-BD59-A6C34878D82A}">
                    <a16:rowId xmlns:a16="http://schemas.microsoft.com/office/drawing/2014/main" val="1963648999"/>
                  </a:ext>
                </a:extLst>
              </a:tr>
              <a:tr h="1598179">
                <a:tc>
                  <a:txBody>
                    <a:bodyPr/>
                    <a:lstStyle/>
                    <a:p>
                      <a:pPr fontAlgn="base" latinLnBrk="0">
                        <a:buNone/>
                      </a:pPr>
                      <a:r>
                        <a:rPr lang="en-IN" sz="2800">
                          <a:effectLst/>
                        </a:rPr>
                        <a:t>Miscellaneous (App deployment, licenses)</a:t>
                      </a:r>
                    </a:p>
                  </a:txBody>
                  <a:tcPr marL="60960" marR="60960" anchor="ctr">
                    <a:lnL w="12700" cap="flat" cmpd="sng" algn="ctr">
                      <a:solidFill>
                        <a:srgbClr val="B08331"/>
                      </a:solidFill>
                      <a:prstDash val="solid"/>
                      <a:round/>
                      <a:headEnd type="none" w="med" len="med"/>
                      <a:tailEnd type="none" w="med" len="med"/>
                    </a:lnL>
                    <a:lnR w="12700" cap="flat" cmpd="sng" algn="ctr">
                      <a:solidFill>
                        <a:srgbClr val="B08331"/>
                      </a:solidFill>
                      <a:prstDash val="solid"/>
                      <a:round/>
                      <a:headEnd type="none" w="med" len="med"/>
                      <a:tailEnd type="none" w="med" len="med"/>
                    </a:lnR>
                    <a:lnT w="12700" cap="flat" cmpd="sng" algn="ctr">
                      <a:solidFill>
                        <a:srgbClr val="B08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tc>
                  <a:txBody>
                    <a:bodyPr/>
                    <a:lstStyle/>
                    <a:p>
                      <a:pPr fontAlgn="base" latinLnBrk="0">
                        <a:buNone/>
                      </a:pPr>
                      <a:r>
                        <a:rPr lang="en-IN" sz="2800" dirty="0">
                          <a:effectLst/>
                        </a:rPr>
                        <a:t>2,000</a:t>
                      </a:r>
                    </a:p>
                  </a:txBody>
                  <a:tcPr marL="60960" marR="60960" anchor="ctr">
                    <a:lnL w="12700" cap="flat" cmpd="sng" algn="ctr">
                      <a:solidFill>
                        <a:srgbClr val="B08331"/>
                      </a:solidFill>
                      <a:prstDash val="solid"/>
                      <a:round/>
                      <a:headEnd type="none" w="med" len="med"/>
                      <a:tailEnd type="none" w="med" len="med"/>
                    </a:lnL>
                    <a:lnR w="12700" cap="flat" cmpd="sng" algn="ctr">
                      <a:solidFill>
                        <a:srgbClr val="B08331"/>
                      </a:solidFill>
                      <a:prstDash val="solid"/>
                      <a:round/>
                      <a:headEnd type="none" w="med" len="med"/>
                      <a:tailEnd type="none" w="med" len="med"/>
                    </a:lnR>
                    <a:lnT w="12700" cap="flat" cmpd="sng" algn="ctr">
                      <a:solidFill>
                        <a:srgbClr val="B08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extLst>
                  <a:ext uri="{0D108BD9-81ED-4DB2-BD59-A6C34878D82A}">
                    <a16:rowId xmlns:a16="http://schemas.microsoft.com/office/drawing/2014/main" val="3146479232"/>
                  </a:ext>
                </a:extLst>
              </a:tr>
              <a:tr h="849371">
                <a:tc>
                  <a:txBody>
                    <a:bodyPr/>
                    <a:lstStyle/>
                    <a:p>
                      <a:pPr fontAlgn="base" latinLnBrk="0">
                        <a:buNone/>
                      </a:pPr>
                      <a:r>
                        <a:rPr lang="en-IN" sz="2800" b="0">
                          <a:effectLst/>
                        </a:rPr>
                        <a:t>Total Monthly Cost</a:t>
                      </a:r>
                      <a:endParaRPr lang="en-IN" sz="2800">
                        <a:effectLst/>
                      </a:endParaRPr>
                    </a:p>
                  </a:txBody>
                  <a:tcPr marL="60960" marR="60960" anchor="ctr">
                    <a:lnL w="12700" cap="flat" cmpd="sng" algn="ctr">
                      <a:solidFill>
                        <a:srgbClr val="B09331"/>
                      </a:solidFill>
                      <a:prstDash val="solid"/>
                      <a:round/>
                      <a:headEnd type="none" w="med" len="med"/>
                      <a:tailEnd type="none" w="med" len="med"/>
                    </a:lnL>
                    <a:lnR w="12700" cap="flat" cmpd="sng" algn="ctr">
                      <a:solidFill>
                        <a:srgbClr val="B09331"/>
                      </a:solidFill>
                      <a:prstDash val="solid"/>
                      <a:round/>
                      <a:headEnd type="none" w="med" len="med"/>
                      <a:tailEnd type="none" w="med" len="med"/>
                    </a:lnR>
                    <a:lnT w="12700" cap="flat" cmpd="sng" algn="ctr">
                      <a:solidFill>
                        <a:srgbClr val="B09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tc>
                  <a:txBody>
                    <a:bodyPr/>
                    <a:lstStyle/>
                    <a:p>
                      <a:pPr fontAlgn="base" latinLnBrk="0">
                        <a:buNone/>
                      </a:pPr>
                      <a:r>
                        <a:rPr lang="en-IN" sz="2800" b="0" dirty="0">
                          <a:effectLst/>
                        </a:rPr>
                        <a:t>31,000</a:t>
                      </a:r>
                      <a:endParaRPr lang="en-IN" sz="2800" dirty="0">
                        <a:effectLst/>
                      </a:endParaRPr>
                    </a:p>
                  </a:txBody>
                  <a:tcPr marL="60960" marR="60960" anchor="ctr">
                    <a:lnL w="12700" cap="flat" cmpd="sng" algn="ctr">
                      <a:solidFill>
                        <a:srgbClr val="B09331"/>
                      </a:solidFill>
                      <a:prstDash val="solid"/>
                      <a:round/>
                      <a:headEnd type="none" w="med" len="med"/>
                      <a:tailEnd type="none" w="med" len="med"/>
                    </a:lnL>
                    <a:lnR w="12700" cap="flat" cmpd="sng" algn="ctr">
                      <a:solidFill>
                        <a:srgbClr val="B09331"/>
                      </a:solidFill>
                      <a:prstDash val="solid"/>
                      <a:round/>
                      <a:headEnd type="none" w="med" len="med"/>
                      <a:tailEnd type="none" w="med" len="med"/>
                    </a:lnR>
                    <a:lnT w="12700" cap="flat" cmpd="sng" algn="ctr">
                      <a:solidFill>
                        <a:srgbClr val="B09331"/>
                      </a:solidFill>
                      <a:prstDash val="solid"/>
                      <a:round/>
                      <a:headEnd type="none" w="med" len="med"/>
                      <a:tailEnd type="none" w="med" len="med"/>
                    </a:lnT>
                    <a:lnB w="12700" cap="flat" cmpd="sng" algn="ctr">
                      <a:solidFill>
                        <a:srgbClr val="B09331"/>
                      </a:solidFill>
                      <a:prstDash val="solid"/>
                      <a:round/>
                      <a:headEnd type="none" w="med" len="med"/>
                      <a:tailEnd type="none" w="med" len="med"/>
                    </a:lnB>
                    <a:noFill/>
                  </a:tcPr>
                </a:tc>
                <a:extLst>
                  <a:ext uri="{0D108BD9-81ED-4DB2-BD59-A6C34878D82A}">
                    <a16:rowId xmlns:a16="http://schemas.microsoft.com/office/drawing/2014/main" val="1648768955"/>
                  </a:ext>
                </a:extLst>
              </a:tr>
            </a:tbl>
          </a:graphicData>
        </a:graphic>
      </p:graphicFrame>
    </p:spTree>
    <p:extLst>
      <p:ext uri="{BB962C8B-B14F-4D97-AF65-F5344CB8AC3E}">
        <p14:creationId xmlns:p14="http://schemas.microsoft.com/office/powerpoint/2010/main" val="3206806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620401" y="2665854"/>
            <a:ext cx="15047200" cy="2172846"/>
            <a:chOff x="0" y="0"/>
            <a:chExt cx="4274726" cy="952936"/>
          </a:xfrm>
        </p:grpSpPr>
        <p:sp>
          <p:nvSpPr>
            <p:cNvPr id="3" name="Freeform 3"/>
            <p:cNvSpPr/>
            <p:nvPr/>
          </p:nvSpPr>
          <p:spPr>
            <a:xfrm>
              <a:off x="0" y="0"/>
              <a:ext cx="4274726" cy="952936"/>
            </a:xfrm>
            <a:custGeom>
              <a:avLst/>
              <a:gdLst/>
              <a:ahLst/>
              <a:cxnLst/>
              <a:rect l="l" t="t" r="r" b="b"/>
              <a:pathLst>
                <a:path w="4274726" h="952936">
                  <a:moveTo>
                    <a:pt x="24327" y="0"/>
                  </a:moveTo>
                  <a:lnTo>
                    <a:pt x="4250399" y="0"/>
                  </a:lnTo>
                  <a:cubicBezTo>
                    <a:pt x="4263834" y="0"/>
                    <a:pt x="4274726" y="10891"/>
                    <a:pt x="4274726" y="24327"/>
                  </a:cubicBezTo>
                  <a:lnTo>
                    <a:pt x="4274726" y="928609"/>
                  </a:lnTo>
                  <a:cubicBezTo>
                    <a:pt x="4274726" y="935061"/>
                    <a:pt x="4272163" y="941248"/>
                    <a:pt x="4267601" y="945810"/>
                  </a:cubicBezTo>
                  <a:cubicBezTo>
                    <a:pt x="4263039" y="950373"/>
                    <a:pt x="4256851" y="952936"/>
                    <a:pt x="4250399" y="952936"/>
                  </a:cubicBezTo>
                  <a:lnTo>
                    <a:pt x="24327" y="952936"/>
                  </a:lnTo>
                  <a:cubicBezTo>
                    <a:pt x="10891" y="952936"/>
                    <a:pt x="0" y="942044"/>
                    <a:pt x="0" y="928609"/>
                  </a:cubicBezTo>
                  <a:lnTo>
                    <a:pt x="0" y="24327"/>
                  </a:lnTo>
                  <a:cubicBezTo>
                    <a:pt x="0" y="10891"/>
                    <a:pt x="10891" y="0"/>
                    <a:pt x="24327" y="0"/>
                  </a:cubicBezTo>
                  <a:close/>
                </a:path>
              </a:pathLst>
            </a:custGeom>
            <a:solidFill>
              <a:srgbClr val="F5F5F5"/>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5" name="Group 5"/>
          <p:cNvGrpSpPr/>
          <p:nvPr/>
        </p:nvGrpSpPr>
        <p:grpSpPr>
          <a:xfrm>
            <a:off x="1417220" y="5443121"/>
            <a:ext cx="3372968" cy="3060445"/>
            <a:chOff x="0" y="0"/>
            <a:chExt cx="1816235" cy="1647951"/>
          </a:xfrm>
        </p:grpSpPr>
        <p:sp>
          <p:nvSpPr>
            <p:cNvPr id="6" name="Freeform 6"/>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8" name="Group 8"/>
          <p:cNvGrpSpPr/>
          <p:nvPr/>
        </p:nvGrpSpPr>
        <p:grpSpPr>
          <a:xfrm>
            <a:off x="5446880" y="5443121"/>
            <a:ext cx="3372968" cy="3060445"/>
            <a:chOff x="0" y="0"/>
            <a:chExt cx="1816235" cy="1647951"/>
          </a:xfrm>
        </p:grpSpPr>
        <p:sp>
          <p:nvSpPr>
            <p:cNvPr id="9" name="Freeform 9"/>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a:off x="9470948" y="5443121"/>
            <a:ext cx="3372968" cy="3060445"/>
            <a:chOff x="0" y="0"/>
            <a:chExt cx="1816235" cy="1647951"/>
          </a:xfrm>
        </p:grpSpPr>
        <p:sp>
          <p:nvSpPr>
            <p:cNvPr id="12" name="Freeform 12"/>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3" name="TextBox 13"/>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4" name="Group 14"/>
          <p:cNvGrpSpPr/>
          <p:nvPr/>
        </p:nvGrpSpPr>
        <p:grpSpPr>
          <a:xfrm>
            <a:off x="13501141" y="5426037"/>
            <a:ext cx="3372968" cy="3060445"/>
            <a:chOff x="0" y="0"/>
            <a:chExt cx="1816235" cy="1647951"/>
          </a:xfrm>
        </p:grpSpPr>
        <p:sp>
          <p:nvSpPr>
            <p:cNvPr id="15" name="Freeform 15"/>
            <p:cNvSpPr/>
            <p:nvPr/>
          </p:nvSpPr>
          <p:spPr>
            <a:xfrm>
              <a:off x="0" y="0"/>
              <a:ext cx="1816235" cy="1647951"/>
            </a:xfrm>
            <a:custGeom>
              <a:avLst/>
              <a:gdLst/>
              <a:ahLst/>
              <a:cxnLst/>
              <a:rect l="l" t="t" r="r" b="b"/>
              <a:pathLst>
                <a:path w="1816235" h="1647951">
                  <a:moveTo>
                    <a:pt x="117059" y="0"/>
                  </a:moveTo>
                  <a:lnTo>
                    <a:pt x="1699175" y="0"/>
                  </a:lnTo>
                  <a:cubicBezTo>
                    <a:pt x="1763825" y="0"/>
                    <a:pt x="1816235" y="52409"/>
                    <a:pt x="1816235" y="117059"/>
                  </a:cubicBezTo>
                  <a:lnTo>
                    <a:pt x="1816235" y="1530892"/>
                  </a:lnTo>
                  <a:cubicBezTo>
                    <a:pt x="1816235" y="1595542"/>
                    <a:pt x="1763825" y="1647951"/>
                    <a:pt x="1699175" y="1647951"/>
                  </a:cubicBezTo>
                  <a:lnTo>
                    <a:pt x="117059" y="1647951"/>
                  </a:lnTo>
                  <a:cubicBezTo>
                    <a:pt x="52409" y="1647951"/>
                    <a:pt x="0" y="1595542"/>
                    <a:pt x="0" y="1530892"/>
                  </a:cubicBezTo>
                  <a:lnTo>
                    <a:pt x="0" y="117059"/>
                  </a:lnTo>
                  <a:cubicBezTo>
                    <a:pt x="0" y="52409"/>
                    <a:pt x="52409" y="0"/>
                    <a:pt x="117059" y="0"/>
                  </a:cubicBezTo>
                  <a:close/>
                </a:path>
              </a:pathLst>
            </a:custGeom>
            <a:solidFill>
              <a:srgbClr val="F5F5F5"/>
            </a:solidFill>
          </p:spPr>
          <p:txBody>
            <a:bodyPr/>
            <a:lstStyle/>
            <a:p>
              <a:endParaRPr lang="en-IN"/>
            </a:p>
          </p:txBody>
        </p:sp>
        <p:sp>
          <p:nvSpPr>
            <p:cNvPr id="16" name="TextBox 16"/>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17" name="Group 17"/>
          <p:cNvGrpSpPr/>
          <p:nvPr/>
        </p:nvGrpSpPr>
        <p:grpSpPr>
          <a:xfrm>
            <a:off x="2348970" y="7748832"/>
            <a:ext cx="1509468" cy="1509468"/>
            <a:chOff x="0" y="0"/>
            <a:chExt cx="812800" cy="812800"/>
          </a:xfrm>
        </p:grpSpPr>
        <p:sp>
          <p:nvSpPr>
            <p:cNvPr id="18" name="Freeform 18"/>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19" name="TextBox 19"/>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0" name="Group 20"/>
          <p:cNvGrpSpPr/>
          <p:nvPr/>
        </p:nvGrpSpPr>
        <p:grpSpPr>
          <a:xfrm>
            <a:off x="6378630" y="7748832"/>
            <a:ext cx="1509468" cy="1509468"/>
            <a:chOff x="0" y="0"/>
            <a:chExt cx="812800" cy="812800"/>
          </a:xfrm>
        </p:grpSpPr>
        <p:sp>
          <p:nvSpPr>
            <p:cNvPr id="21" name="Freeform 21"/>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3" name="Group 23"/>
          <p:cNvGrpSpPr/>
          <p:nvPr/>
        </p:nvGrpSpPr>
        <p:grpSpPr>
          <a:xfrm>
            <a:off x="10402698" y="7748832"/>
            <a:ext cx="1509468" cy="1509468"/>
            <a:chOff x="0" y="0"/>
            <a:chExt cx="812800" cy="812800"/>
          </a:xfrm>
        </p:grpSpPr>
        <p:sp>
          <p:nvSpPr>
            <p:cNvPr id="24" name="Freeform 24"/>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5" name="TextBox 25"/>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grpSp>
        <p:nvGrpSpPr>
          <p:cNvPr id="26" name="Group 26"/>
          <p:cNvGrpSpPr/>
          <p:nvPr/>
        </p:nvGrpSpPr>
        <p:grpSpPr>
          <a:xfrm>
            <a:off x="14426766" y="7748832"/>
            <a:ext cx="1509468" cy="1509468"/>
            <a:chOff x="0" y="0"/>
            <a:chExt cx="812800" cy="812800"/>
          </a:xfrm>
        </p:grpSpPr>
        <p:sp>
          <p:nvSpPr>
            <p:cNvPr id="27" name="Freeform 27"/>
            <p:cNvSpPr/>
            <p:nvPr/>
          </p:nvSpPr>
          <p:spPr>
            <a:xfrm>
              <a:off x="0" y="0"/>
              <a:ext cx="812800" cy="812800"/>
            </a:xfrm>
            <a:custGeom>
              <a:avLst/>
              <a:gdLst/>
              <a:ahLst/>
              <a:cxnLst/>
              <a:rect l="l" t="t" r="r" b="b"/>
              <a:pathLst>
                <a:path w="812800" h="812800">
                  <a:moveTo>
                    <a:pt x="261574" y="0"/>
                  </a:moveTo>
                  <a:lnTo>
                    <a:pt x="551226" y="0"/>
                  </a:lnTo>
                  <a:cubicBezTo>
                    <a:pt x="620600" y="0"/>
                    <a:pt x="687132" y="27559"/>
                    <a:pt x="736187" y="76613"/>
                  </a:cubicBezTo>
                  <a:cubicBezTo>
                    <a:pt x="785241" y="125668"/>
                    <a:pt x="812800" y="192200"/>
                    <a:pt x="812800" y="261574"/>
                  </a:cubicBezTo>
                  <a:lnTo>
                    <a:pt x="812800" y="551226"/>
                  </a:lnTo>
                  <a:cubicBezTo>
                    <a:pt x="812800" y="620600"/>
                    <a:pt x="785241" y="687132"/>
                    <a:pt x="736187" y="736187"/>
                  </a:cubicBezTo>
                  <a:cubicBezTo>
                    <a:pt x="687132" y="785241"/>
                    <a:pt x="620600" y="812800"/>
                    <a:pt x="551226" y="812800"/>
                  </a:cubicBezTo>
                  <a:lnTo>
                    <a:pt x="261574" y="812800"/>
                  </a:lnTo>
                  <a:cubicBezTo>
                    <a:pt x="192200" y="812800"/>
                    <a:pt x="125668" y="785241"/>
                    <a:pt x="76613" y="736187"/>
                  </a:cubicBezTo>
                  <a:cubicBezTo>
                    <a:pt x="27559" y="687132"/>
                    <a:pt x="0" y="620600"/>
                    <a:pt x="0" y="551226"/>
                  </a:cubicBezTo>
                  <a:lnTo>
                    <a:pt x="0" y="261574"/>
                  </a:lnTo>
                  <a:cubicBezTo>
                    <a:pt x="0" y="192200"/>
                    <a:pt x="27559" y="125668"/>
                    <a:pt x="76613" y="76613"/>
                  </a:cubicBezTo>
                  <a:cubicBezTo>
                    <a:pt x="125668" y="27559"/>
                    <a:pt x="192200" y="0"/>
                    <a:pt x="261574" y="0"/>
                  </a:cubicBezTo>
                  <a:close/>
                </a:path>
              </a:pathLst>
            </a:custGeom>
            <a:solidFill>
              <a:srgbClr val="ECA406"/>
            </a:solidFill>
          </p:spPr>
          <p:txBody>
            <a:bodyPr/>
            <a:lstStyle/>
            <a:p>
              <a:endParaRPr lang="en-IN"/>
            </a:p>
          </p:txBody>
        </p:sp>
        <p:sp>
          <p:nvSpPr>
            <p:cNvPr id="28" name="TextBox 28"/>
            <p:cNvSpPr txBox="1"/>
            <p:nvPr/>
          </p:nvSpPr>
          <p:spPr>
            <a:xfrm>
              <a:off x="0" y="-38100"/>
              <a:ext cx="812800" cy="850900"/>
            </a:xfrm>
            <a:prstGeom prst="rect">
              <a:avLst/>
            </a:prstGeom>
          </p:spPr>
          <p:txBody>
            <a:bodyPr lIns="50800" tIns="50800" rIns="50800" bIns="50800" rtlCol="0" anchor="ctr"/>
            <a:lstStyle/>
            <a:p>
              <a:pPr algn="ctr">
                <a:lnSpc>
                  <a:spcPts val="3360"/>
                </a:lnSpc>
              </a:pPr>
              <a:endParaRPr/>
            </a:p>
          </p:txBody>
        </p:sp>
      </p:grpSp>
      <p:sp>
        <p:nvSpPr>
          <p:cNvPr id="29" name="AutoShape 29"/>
          <p:cNvSpPr/>
          <p:nvPr/>
        </p:nvSpPr>
        <p:spPr>
          <a:xfrm>
            <a:off x="3858438" y="8465466"/>
            <a:ext cx="2520192" cy="7620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0" name="AutoShape 30"/>
          <p:cNvSpPr/>
          <p:nvPr/>
        </p:nvSpPr>
        <p:spPr>
          <a:xfrm>
            <a:off x="7888098" y="8465466"/>
            <a:ext cx="2520192" cy="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1" name="AutoShape 31"/>
          <p:cNvSpPr/>
          <p:nvPr/>
        </p:nvSpPr>
        <p:spPr>
          <a:xfrm>
            <a:off x="11912166" y="8465466"/>
            <a:ext cx="2520192" cy="0"/>
          </a:xfrm>
          <a:prstGeom prst="line">
            <a:avLst/>
          </a:prstGeom>
          <a:ln w="76200" cap="flat">
            <a:solidFill>
              <a:srgbClr val="1A1A1A"/>
            </a:solidFill>
            <a:prstDash val="solid"/>
            <a:headEnd type="none" w="sm" len="sm"/>
            <a:tailEnd type="triangle" w="lg" len="med"/>
          </a:ln>
        </p:spPr>
        <p:txBody>
          <a:bodyPr/>
          <a:lstStyle/>
          <a:p>
            <a:endParaRPr lang="en-IN"/>
          </a:p>
        </p:txBody>
      </p:sp>
      <p:sp>
        <p:nvSpPr>
          <p:cNvPr id="32" name="Freeform 32"/>
          <p:cNvSpPr/>
          <p:nvPr/>
        </p:nvSpPr>
        <p:spPr>
          <a:xfrm>
            <a:off x="2624010" y="8084052"/>
            <a:ext cx="959388" cy="839028"/>
          </a:xfrm>
          <a:custGeom>
            <a:avLst/>
            <a:gdLst/>
            <a:ahLst/>
            <a:cxnLst/>
            <a:rect l="l" t="t" r="r" b="b"/>
            <a:pathLst>
              <a:path w="959388" h="839028">
                <a:moveTo>
                  <a:pt x="0" y="0"/>
                </a:moveTo>
                <a:lnTo>
                  <a:pt x="959388" y="0"/>
                </a:lnTo>
                <a:lnTo>
                  <a:pt x="959388" y="839028"/>
                </a:lnTo>
                <a:lnTo>
                  <a:pt x="0" y="839028"/>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3" name="Freeform 33"/>
          <p:cNvSpPr/>
          <p:nvPr/>
        </p:nvSpPr>
        <p:spPr>
          <a:xfrm>
            <a:off x="6602094" y="8244400"/>
            <a:ext cx="1056948" cy="594533"/>
          </a:xfrm>
          <a:custGeom>
            <a:avLst/>
            <a:gdLst/>
            <a:ahLst/>
            <a:cxnLst/>
            <a:rect l="l" t="t" r="r" b="b"/>
            <a:pathLst>
              <a:path w="1056948" h="594533">
                <a:moveTo>
                  <a:pt x="0" y="0"/>
                </a:moveTo>
                <a:lnTo>
                  <a:pt x="1056948" y="0"/>
                </a:lnTo>
                <a:lnTo>
                  <a:pt x="1056948" y="594533"/>
                </a:lnTo>
                <a:lnTo>
                  <a:pt x="0" y="594533"/>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txBody>
          <a:bodyPr/>
          <a:lstStyle/>
          <a:p>
            <a:endParaRPr lang="en-IN"/>
          </a:p>
        </p:txBody>
      </p:sp>
      <p:sp>
        <p:nvSpPr>
          <p:cNvPr id="34" name="Freeform 34"/>
          <p:cNvSpPr/>
          <p:nvPr/>
        </p:nvSpPr>
        <p:spPr>
          <a:xfrm>
            <a:off x="10616828" y="8155239"/>
            <a:ext cx="1081208" cy="662486"/>
          </a:xfrm>
          <a:custGeom>
            <a:avLst/>
            <a:gdLst/>
            <a:ahLst/>
            <a:cxnLst/>
            <a:rect l="l" t="t" r="r" b="b"/>
            <a:pathLst>
              <a:path w="1081208" h="662486">
                <a:moveTo>
                  <a:pt x="0" y="0"/>
                </a:moveTo>
                <a:lnTo>
                  <a:pt x="1081208" y="0"/>
                </a:lnTo>
                <a:lnTo>
                  <a:pt x="1081208" y="662486"/>
                </a:lnTo>
                <a:lnTo>
                  <a:pt x="0" y="66248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35" name="Freeform 35"/>
          <p:cNvSpPr/>
          <p:nvPr/>
        </p:nvSpPr>
        <p:spPr>
          <a:xfrm>
            <a:off x="14840287" y="7976629"/>
            <a:ext cx="694675" cy="1019707"/>
          </a:xfrm>
          <a:custGeom>
            <a:avLst/>
            <a:gdLst/>
            <a:ahLst/>
            <a:cxnLst/>
            <a:rect l="l" t="t" r="r" b="b"/>
            <a:pathLst>
              <a:path w="694675" h="1019707">
                <a:moveTo>
                  <a:pt x="0" y="0"/>
                </a:moveTo>
                <a:lnTo>
                  <a:pt x="694675" y="0"/>
                </a:lnTo>
                <a:lnTo>
                  <a:pt x="694675" y="1019707"/>
                </a:lnTo>
                <a:lnTo>
                  <a:pt x="0" y="1019707"/>
                </a:lnTo>
                <a:lnTo>
                  <a:pt x="0" y="0"/>
                </a:lnTo>
                <a:close/>
              </a:path>
            </a:pathLst>
          </a:custGeom>
          <a:blipFill>
            <a:blip r:embed="rId8" cstate="print">
              <a:extLst>
                <a:ext uri="{96DAC541-7B7A-43D3-8B79-37D633B846F1}">
                  <asvg:svgBlip xmlns:asvg="http://schemas.microsoft.com/office/drawing/2016/SVG/main" r:embed="rId9"/>
                </a:ext>
              </a:extLst>
            </a:blip>
            <a:stretch>
              <a:fillRect/>
            </a:stretch>
          </a:blipFill>
        </p:spPr>
        <p:txBody>
          <a:bodyPr/>
          <a:lstStyle/>
          <a:p>
            <a:endParaRPr lang="en-IN"/>
          </a:p>
        </p:txBody>
      </p:sp>
      <p:sp>
        <p:nvSpPr>
          <p:cNvPr id="36" name="TextBox 36"/>
          <p:cNvSpPr txBox="1"/>
          <p:nvPr/>
        </p:nvSpPr>
        <p:spPr>
          <a:xfrm>
            <a:off x="1845487"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Q3 2025</a:t>
            </a:r>
          </a:p>
        </p:txBody>
      </p:sp>
      <p:sp>
        <p:nvSpPr>
          <p:cNvPr id="37" name="TextBox 37"/>
          <p:cNvSpPr txBox="1"/>
          <p:nvPr/>
        </p:nvSpPr>
        <p:spPr>
          <a:xfrm>
            <a:off x="1620401"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Prototype</a:t>
            </a:r>
          </a:p>
        </p:txBody>
      </p:sp>
      <p:sp>
        <p:nvSpPr>
          <p:cNvPr id="38" name="TextBox 38"/>
          <p:cNvSpPr txBox="1"/>
          <p:nvPr/>
        </p:nvSpPr>
        <p:spPr>
          <a:xfrm>
            <a:off x="1845487" y="2889931"/>
            <a:ext cx="14090747" cy="2600455"/>
          </a:xfrm>
          <a:prstGeom prst="rect">
            <a:avLst/>
          </a:prstGeom>
        </p:spPr>
        <p:txBody>
          <a:bodyPr wrap="square" lIns="0" tIns="0" rIns="0" bIns="0" rtlCol="0" anchor="t">
            <a:spAutoFit/>
          </a:bodyPr>
          <a:lstStyle/>
          <a:p>
            <a:pPr lvl="0" algn="ctr">
              <a:lnSpc>
                <a:spcPts val="3359"/>
              </a:lnSpc>
            </a:pPr>
            <a:r>
              <a:rPr lang="en-US" sz="2600" dirty="0">
                <a:latin typeface="+mj-lt"/>
              </a:rPr>
              <a:t>Our next step is to scale </a:t>
            </a:r>
            <a:r>
              <a:rPr lang="en-US" sz="2600" dirty="0" err="1">
                <a:latin typeface="+mj-lt"/>
              </a:rPr>
              <a:t>Prihub's</a:t>
            </a:r>
            <a:r>
              <a:rPr lang="en-US" sz="2600" dirty="0">
                <a:latin typeface="+mj-lt"/>
              </a:rPr>
              <a:t> accessible platform nationwide, aiming to onboard 10,000 users in 12 months, and we seek ₹80 lakhs in investor support to fund enhanced AI development, broader outreach, institutional partnerships, </a:t>
            </a:r>
            <a:r>
              <a:rPr lang="en-US" altLang="en-US" sz="2600" dirty="0">
                <a:latin typeface="+mj-lt"/>
              </a:rPr>
              <a:t>Multilingual support, Integration with telehealth services, Personalized dashboards, Community forum integration and Offline support via PWA</a:t>
            </a:r>
          </a:p>
          <a:p>
            <a:pPr lvl="0" algn="just">
              <a:lnSpc>
                <a:spcPts val="3359"/>
              </a:lnSpc>
            </a:pPr>
            <a:endParaRPr lang="en-US" sz="2600" dirty="0">
              <a:latin typeface="+mj-lt"/>
            </a:endParaRPr>
          </a:p>
          <a:p>
            <a:pPr lvl="0" algn="just">
              <a:lnSpc>
                <a:spcPts val="3359"/>
              </a:lnSpc>
            </a:pPr>
            <a:endParaRPr lang="en-US" sz="2600" b="1" dirty="0">
              <a:solidFill>
                <a:srgbClr val="1A1A1A"/>
              </a:solidFill>
              <a:latin typeface="+mj-lt"/>
            </a:endParaRPr>
          </a:p>
        </p:txBody>
      </p:sp>
      <p:sp>
        <p:nvSpPr>
          <p:cNvPr id="39" name="TextBox 39"/>
          <p:cNvSpPr txBox="1"/>
          <p:nvPr/>
        </p:nvSpPr>
        <p:spPr>
          <a:xfrm>
            <a:off x="3328604" y="1493250"/>
            <a:ext cx="11511683" cy="1107996"/>
          </a:xfrm>
          <a:prstGeom prst="rect">
            <a:avLst/>
          </a:prstGeom>
        </p:spPr>
        <p:txBody>
          <a:bodyPr wrap="square" lIns="0" tIns="0" rIns="0" bIns="0" rtlCol="0" anchor="t">
            <a:spAutoFit/>
          </a:bodyPr>
          <a:lstStyle/>
          <a:p>
            <a:pPr marL="0" lvl="0" indent="0" algn="ctr">
              <a:lnSpc>
                <a:spcPts val="8000"/>
              </a:lnSpc>
            </a:pPr>
            <a:r>
              <a:rPr lang="en-US" sz="10000" dirty="0">
                <a:solidFill>
                  <a:schemeClr val="accent6">
                    <a:lumMod val="60000"/>
                    <a:lumOff val="40000"/>
                  </a:schemeClr>
                </a:solidFill>
                <a:latin typeface="Telegraf Bold Bold"/>
              </a:rPr>
              <a:t>Future</a:t>
            </a:r>
            <a:r>
              <a:rPr lang="en-US" sz="8000" dirty="0">
                <a:solidFill>
                  <a:srgbClr val="ECA406"/>
                </a:solidFill>
                <a:latin typeface="Telegraf Bold Bold"/>
              </a:rPr>
              <a:t> </a:t>
            </a:r>
            <a:r>
              <a:rPr lang="en-US" sz="10000" dirty="0">
                <a:latin typeface="Telegraf Bold Bold"/>
              </a:rPr>
              <a:t>Roadmap</a:t>
            </a:r>
          </a:p>
        </p:txBody>
      </p:sp>
      <p:sp>
        <p:nvSpPr>
          <p:cNvPr id="40" name="TextBox 40"/>
          <p:cNvSpPr txBox="1"/>
          <p:nvPr/>
        </p:nvSpPr>
        <p:spPr>
          <a:xfrm>
            <a:off x="5872351"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Q4 2026</a:t>
            </a:r>
          </a:p>
        </p:txBody>
      </p:sp>
      <p:sp>
        <p:nvSpPr>
          <p:cNvPr id="41" name="TextBox 41"/>
          <p:cNvSpPr txBox="1"/>
          <p:nvPr/>
        </p:nvSpPr>
        <p:spPr>
          <a:xfrm>
            <a:off x="5647265"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Launch</a:t>
            </a:r>
          </a:p>
        </p:txBody>
      </p:sp>
      <p:sp>
        <p:nvSpPr>
          <p:cNvPr id="42" name="TextBox 42"/>
          <p:cNvSpPr txBox="1"/>
          <p:nvPr/>
        </p:nvSpPr>
        <p:spPr>
          <a:xfrm>
            <a:off x="9899215"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Q1 2027</a:t>
            </a:r>
          </a:p>
        </p:txBody>
      </p:sp>
      <p:sp>
        <p:nvSpPr>
          <p:cNvPr id="43" name="TextBox 43"/>
          <p:cNvSpPr txBox="1"/>
          <p:nvPr/>
        </p:nvSpPr>
        <p:spPr>
          <a:xfrm>
            <a:off x="9674129"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V2.0</a:t>
            </a:r>
          </a:p>
        </p:txBody>
      </p:sp>
      <p:sp>
        <p:nvSpPr>
          <p:cNvPr id="44" name="TextBox 44"/>
          <p:cNvSpPr txBox="1"/>
          <p:nvPr/>
        </p:nvSpPr>
        <p:spPr>
          <a:xfrm>
            <a:off x="13926079" y="6956260"/>
            <a:ext cx="2516435" cy="365100"/>
          </a:xfrm>
          <a:prstGeom prst="rect">
            <a:avLst/>
          </a:prstGeom>
        </p:spPr>
        <p:txBody>
          <a:bodyPr lIns="0" tIns="0" rIns="0" bIns="0" rtlCol="0" anchor="t">
            <a:spAutoFit/>
          </a:bodyPr>
          <a:lstStyle/>
          <a:p>
            <a:pPr marL="0" lvl="0" indent="0" algn="ctr">
              <a:lnSpc>
                <a:spcPts val="2879"/>
              </a:lnSpc>
            </a:pPr>
            <a:r>
              <a:rPr lang="en-US" sz="2400" dirty="0">
                <a:solidFill>
                  <a:srgbClr val="1A1A1A"/>
                </a:solidFill>
                <a:latin typeface="Poppins"/>
              </a:rPr>
              <a:t>Q1 2027</a:t>
            </a:r>
          </a:p>
        </p:txBody>
      </p:sp>
      <p:sp>
        <p:nvSpPr>
          <p:cNvPr id="45" name="TextBox 45"/>
          <p:cNvSpPr txBox="1"/>
          <p:nvPr/>
        </p:nvSpPr>
        <p:spPr>
          <a:xfrm>
            <a:off x="13700993" y="6134252"/>
            <a:ext cx="2966607" cy="778002"/>
          </a:xfrm>
          <a:prstGeom prst="rect">
            <a:avLst/>
          </a:prstGeom>
        </p:spPr>
        <p:txBody>
          <a:bodyPr lIns="0" tIns="0" rIns="0" bIns="0" rtlCol="0" anchor="t">
            <a:spAutoFit/>
          </a:bodyPr>
          <a:lstStyle/>
          <a:p>
            <a:pPr marL="0" lvl="0" indent="0" algn="ctr">
              <a:lnSpc>
                <a:spcPts val="5964"/>
              </a:lnSpc>
            </a:pPr>
            <a:r>
              <a:rPr lang="en-US" sz="4200">
                <a:solidFill>
                  <a:srgbClr val="1A1A1A"/>
                </a:solidFill>
                <a:latin typeface="Telegraf Bold"/>
              </a:rPr>
              <a:t>V2.2</a:t>
            </a:r>
          </a:p>
        </p:txBody>
      </p:sp>
      <p:pic>
        <p:nvPicPr>
          <p:cNvPr id="53" name="Picture 52">
            <a:extLst>
              <a:ext uri="{FF2B5EF4-FFF2-40B4-BE49-F238E27FC236}">
                <a16:creationId xmlns:a16="http://schemas.microsoft.com/office/drawing/2014/main" id="{38AA03C6-4BDB-79F1-6A54-3DDB6262D21A}"/>
              </a:ext>
            </a:extLst>
          </p:cNvPr>
          <p:cNvPicPr>
            <a:picLocks noChangeAspect="1"/>
          </p:cNvPicPr>
          <p:nvPr/>
        </p:nvPicPr>
        <p:blipFill>
          <a:blip r:embed="rId10" cstate="print"/>
          <a:stretch>
            <a:fillRect/>
          </a:stretch>
        </p:blipFill>
        <p:spPr>
          <a:xfrm>
            <a:off x="15369540" y="0"/>
            <a:ext cx="2918460" cy="1060031"/>
          </a:xfrm>
          <a:prstGeom prst="rect">
            <a:avLst/>
          </a:prstGeom>
        </p:spPr>
      </p:pic>
      <p:pic>
        <p:nvPicPr>
          <p:cNvPr id="54" name="Picture 53">
            <a:extLst>
              <a:ext uri="{FF2B5EF4-FFF2-40B4-BE49-F238E27FC236}">
                <a16:creationId xmlns:a16="http://schemas.microsoft.com/office/drawing/2014/main" id="{2C502715-8A2C-DD2B-E8FA-D67093EC82F3}"/>
              </a:ext>
            </a:extLst>
          </p:cNvPr>
          <p:cNvPicPr>
            <a:picLocks noChangeAspect="1"/>
          </p:cNvPicPr>
          <p:nvPr/>
        </p:nvPicPr>
        <p:blipFill>
          <a:blip r:embed="rId11" cstate="print"/>
          <a:stretch>
            <a:fillRect/>
          </a:stretch>
        </p:blipFill>
        <p:spPr>
          <a:xfrm>
            <a:off x="1" y="289561"/>
            <a:ext cx="3200400" cy="8463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12"/>
          <p:cNvSpPr txBox="1"/>
          <p:nvPr/>
        </p:nvSpPr>
        <p:spPr>
          <a:xfrm>
            <a:off x="1293967" y="2544439"/>
            <a:ext cx="15700066" cy="2948138"/>
          </a:xfrm>
          <a:prstGeom prst="rect">
            <a:avLst/>
          </a:prstGeom>
        </p:spPr>
        <p:txBody>
          <a:bodyPr lIns="0" tIns="0" rIns="0" bIns="0" rtlCol="0" anchor="t">
            <a:spAutoFit/>
          </a:bodyPr>
          <a:lstStyle/>
          <a:p>
            <a:pPr algn="ctr">
              <a:lnSpc>
                <a:spcPts val="22741"/>
              </a:lnSpc>
            </a:pPr>
            <a:r>
              <a:rPr lang="en-US" sz="16243" dirty="0">
                <a:solidFill>
                  <a:srgbClr val="1A1A1A"/>
                </a:solidFill>
                <a:latin typeface="Telegraf Bold Bold"/>
              </a:rPr>
              <a:t>Thank You</a:t>
            </a:r>
          </a:p>
        </p:txBody>
      </p:sp>
      <p:sp>
        <p:nvSpPr>
          <p:cNvPr id="13" name="TextBox 13"/>
          <p:cNvSpPr txBox="1"/>
          <p:nvPr/>
        </p:nvSpPr>
        <p:spPr>
          <a:xfrm>
            <a:off x="1028700" y="5685934"/>
            <a:ext cx="16230600" cy="750570"/>
          </a:xfrm>
          <a:prstGeom prst="rect">
            <a:avLst/>
          </a:prstGeom>
        </p:spPr>
        <p:txBody>
          <a:bodyPr lIns="0" tIns="0" rIns="0" bIns="0" rtlCol="0" anchor="t">
            <a:spAutoFit/>
          </a:bodyPr>
          <a:lstStyle/>
          <a:p>
            <a:pPr algn="ctr">
              <a:lnSpc>
                <a:spcPts val="5880"/>
              </a:lnSpc>
            </a:pPr>
            <a:r>
              <a:rPr lang="en-US" sz="4200" spc="1058" dirty="0">
                <a:solidFill>
                  <a:srgbClr val="ECA406"/>
                </a:solidFill>
                <a:latin typeface="Poppins"/>
              </a:rPr>
              <a:t>FOR YOUR TIME</a:t>
            </a:r>
          </a:p>
        </p:txBody>
      </p:sp>
      <p:sp>
        <p:nvSpPr>
          <p:cNvPr id="14" name="TextBox 14"/>
          <p:cNvSpPr txBox="1"/>
          <p:nvPr/>
        </p:nvSpPr>
        <p:spPr>
          <a:xfrm>
            <a:off x="5486400" y="8981177"/>
            <a:ext cx="7667839" cy="975716"/>
          </a:xfrm>
          <a:prstGeom prst="rect">
            <a:avLst/>
          </a:prstGeom>
        </p:spPr>
        <p:txBody>
          <a:bodyPr wrap="square" lIns="0" tIns="0" rIns="0" bIns="0" rtlCol="0" anchor="t">
            <a:spAutoFit/>
          </a:bodyPr>
          <a:lstStyle/>
          <a:p>
            <a:pPr algn="ctr">
              <a:lnSpc>
                <a:spcPts val="3919"/>
              </a:lnSpc>
            </a:pPr>
            <a:r>
              <a:rPr lang="en-US" sz="2799" dirty="0">
                <a:solidFill>
                  <a:srgbClr val="1A1A1A"/>
                </a:solidFill>
                <a:latin typeface="Poppins"/>
              </a:rPr>
              <a:t>Supported by - Arya Incubation Cell</a:t>
            </a:r>
          </a:p>
          <a:p>
            <a:pPr algn="ctr">
              <a:lnSpc>
                <a:spcPts val="3919"/>
              </a:lnSpc>
            </a:pPr>
            <a:r>
              <a:rPr lang="en-US" sz="2799" dirty="0">
                <a:solidFill>
                  <a:srgbClr val="1A1A1A"/>
                </a:solidFill>
                <a:latin typeface="Poppins"/>
              </a:rPr>
              <a:t> Arya College of IT &amp; Engineering </a:t>
            </a:r>
          </a:p>
        </p:txBody>
      </p:sp>
      <p:pic>
        <p:nvPicPr>
          <p:cNvPr id="3" name="Picture 2">
            <a:extLst>
              <a:ext uri="{FF2B5EF4-FFF2-40B4-BE49-F238E27FC236}">
                <a16:creationId xmlns:a16="http://schemas.microsoft.com/office/drawing/2014/main" id="{9C071416-D799-74CE-F2B7-70338A84B363}"/>
              </a:ext>
            </a:extLst>
          </p:cNvPr>
          <p:cNvPicPr>
            <a:picLocks noChangeAspect="1"/>
          </p:cNvPicPr>
          <p:nvPr/>
        </p:nvPicPr>
        <p:blipFill>
          <a:blip r:embed="rId2" cstate="print"/>
          <a:stretch>
            <a:fillRect/>
          </a:stretch>
        </p:blipFill>
        <p:spPr>
          <a:xfrm>
            <a:off x="7348021" y="7719701"/>
            <a:ext cx="4013599" cy="1457803"/>
          </a:xfrm>
          <a:prstGeom prst="rect">
            <a:avLst/>
          </a:prstGeom>
        </p:spPr>
      </p:pic>
      <p:pic>
        <p:nvPicPr>
          <p:cNvPr id="7" name="Picture 6">
            <a:extLst>
              <a:ext uri="{FF2B5EF4-FFF2-40B4-BE49-F238E27FC236}">
                <a16:creationId xmlns:a16="http://schemas.microsoft.com/office/drawing/2014/main" id="{3F2ED2EA-8C4B-5726-4FA3-39E805F77410}"/>
              </a:ext>
            </a:extLst>
          </p:cNvPr>
          <p:cNvPicPr>
            <a:picLocks noChangeAspect="1"/>
          </p:cNvPicPr>
          <p:nvPr/>
        </p:nvPicPr>
        <p:blipFill>
          <a:blip r:embed="rId3" cstate="print"/>
          <a:stretch>
            <a:fillRect/>
          </a:stretch>
        </p:blipFill>
        <p:spPr>
          <a:xfrm>
            <a:off x="1" y="289561"/>
            <a:ext cx="3200400" cy="8463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itch Deck for SEm VI-Template" id="{3A8F7FCA-7A54-4C46-9F97-69CC3D1727AA}" vid="{5D6A5128-5061-43BC-8C12-9CB9404F0386}"/>
    </a:ext>
  </a:extLst>
</a:theme>
</file>

<file path=docProps/app.xml><?xml version="1.0" encoding="utf-8"?>
<Properties xmlns="http://schemas.openxmlformats.org/officeDocument/2006/extended-properties" xmlns:vt="http://schemas.openxmlformats.org/officeDocument/2006/docPropsVTypes">
  <Template>Pitch Deck for SEm VI-Template</Template>
  <TotalTime>1306</TotalTime>
  <Words>1058</Words>
  <Application>Microsoft Office PowerPoint</Application>
  <PresentationFormat>Custom</PresentationFormat>
  <Paragraphs>178</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Telegraf Bold</vt:lpstr>
      <vt:lpstr>Arial</vt:lpstr>
      <vt:lpstr>Calibri</vt:lpstr>
      <vt:lpstr>Telegraf Bold Bold</vt:lpstr>
      <vt:lpstr>Lucida Sans</vt:lpstr>
      <vt:lpstr>Poppins</vt:lpstr>
      <vt:lpstr>Times New Roman</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Vyas</dc:creator>
  <cp:lastModifiedBy>pranjal khandelwal</cp:lastModifiedBy>
  <cp:revision>49</cp:revision>
  <dcterms:created xsi:type="dcterms:W3CDTF">2023-06-03T08:00:31Z</dcterms:created>
  <dcterms:modified xsi:type="dcterms:W3CDTF">2025-07-24T03:03:48Z</dcterms:modified>
  <dc:identifier>DAFkpUhujCc</dc:identifier>
</cp:coreProperties>
</file>